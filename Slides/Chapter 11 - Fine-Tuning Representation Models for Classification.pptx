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y="5143500" cx="9144000"/>
  <p:notesSz cx="6858000" cy="9144000"/>
  <p:embeddedFontLst>
    <p:embeddedFont>
      <p:font typeface="Raleway"/>
      <p:regular r:id="rId62"/>
      <p:bold r:id="rId63"/>
      <p:italic r:id="rId64"/>
      <p:boldItalic r:id="rId65"/>
    </p:embeddedFont>
    <p:embeddedFont>
      <p:font typeface="Lato"/>
      <p:regular r:id="rId66"/>
      <p:bold r:id="rId67"/>
      <p:italic r:id="rId68"/>
      <p:boldItalic r:id="rId69"/>
    </p:embeddedFont>
    <p:embeddedFont>
      <p:font typeface="Roboto Mono"/>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obotoMono-boldItalic.fntdata"/><Relationship Id="rId72" Type="http://schemas.openxmlformats.org/officeDocument/2006/relationships/font" Target="fonts/RobotoMono-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RobotoMono-bold.fntdata"/><Relationship Id="rId70" Type="http://schemas.openxmlformats.org/officeDocument/2006/relationships/font" Target="fonts/RobotoMono-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aleway-regular.fntdata"/><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Raleway-italic.fntdata"/><Relationship Id="rId63" Type="http://schemas.openxmlformats.org/officeDocument/2006/relationships/font" Target="fonts/Raleway-bold.fntdata"/><Relationship Id="rId22" Type="http://schemas.openxmlformats.org/officeDocument/2006/relationships/slide" Target="slides/slide16.xml"/><Relationship Id="rId66" Type="http://schemas.openxmlformats.org/officeDocument/2006/relationships/font" Target="fonts/Lato-regular.fntdata"/><Relationship Id="rId21" Type="http://schemas.openxmlformats.org/officeDocument/2006/relationships/slide" Target="slides/slide15.xml"/><Relationship Id="rId65" Type="http://schemas.openxmlformats.org/officeDocument/2006/relationships/font" Target="fonts/Raleway-boldItalic.fntdata"/><Relationship Id="rId24" Type="http://schemas.openxmlformats.org/officeDocument/2006/relationships/slide" Target="slides/slide18.xml"/><Relationship Id="rId68" Type="http://schemas.openxmlformats.org/officeDocument/2006/relationships/font" Target="fonts/Lato-italic.fntdata"/><Relationship Id="rId23" Type="http://schemas.openxmlformats.org/officeDocument/2006/relationships/slide" Target="slides/slide17.xml"/><Relationship Id="rId67" Type="http://schemas.openxmlformats.org/officeDocument/2006/relationships/font" Target="fonts/Lato-bold.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Lato-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8975018c79_2_6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38975018c79_2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975018c79_2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8975018c79_2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d06559fa8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3ad06559fa8_0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d06559fa8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3ad06559fa8_0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d06559fa8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3ad06559fa8_0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ad06559fa8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3ad06559fa8_0_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d06559fa8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3ad06559fa8_0_1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d06559fa8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ad06559fa8_0_1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d06559fa8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3ad06559fa8_0_2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d06559fa8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3ad06559fa8_0_2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d06559fa8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3ad06559fa8_0_2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ad06559fa8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g3ad06559fa8_0_2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ad06559fa8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3ad06559fa8_0_2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ad06559fa8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g3ad06559fa8_0_2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ad06559fa8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3ad06559fa8_0_2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ad06559fa8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3ad06559fa8_0_2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ad06559fa8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3ad06559fa8_0_2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ad06559fa8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g3ad06559fa8_0_3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ad06559fa8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g3ad06559fa8_0_3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ad06559fa8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3ad06559fa8_0_3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ad06559fa8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g3ad06559fa8_0_3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ad06559fa8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g3ad06559fa8_0_3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ad06559fa8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g3ad06559fa8_0_3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ad06559fa8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3ad06559fa8_0_3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ad06559fa8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g3ad06559fa8_0_3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ad06559fa8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g3ad06559fa8_0_3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ad06559fa8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g3ad06559fa8_0_3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ad06559fa8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g3ad06559fa8_0_4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ad06559fa8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g3ad06559fa8_0_4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ad06559fa8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g3ad06559fa8_0_4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ad06559fa8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g3ad06559fa8_0_4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ad06559fa8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g3ad06559fa8_0_4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ad06559fa8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g3ad06559fa8_0_4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ad06559fa8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g3ad06559fa8_0_4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ad06559fa8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g3ad06559fa8_0_4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ad06559fa8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g3ad06559fa8_0_4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ad06559fa8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g3ad06559fa8_0_4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ad06559fa8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g3ad06559fa8_0_5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ad06559fa8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g3ad06559fa8_0_5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ad06559fa8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8" name="Google Shape;398;g3ad06559fa8_0_5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ad06559fa8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6" name="Google Shape;406;g3ad06559fa8_0_5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ad06559fa8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g3ad06559fa8_0_5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ad06559fa8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0" name="Google Shape;420;g3ad06559fa8_0_5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ad06559fa8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7" name="Google Shape;427;g3ad06559fa8_0_5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ad06559fa8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4" name="Google Shape;434;g3ad06559fa8_0_5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ad06559fa8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g3ad06559fa8_0_5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ad06559fa8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8" name="Google Shape;448;g3ad06559fa8_0_5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ad06559fa8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4" name="Google Shape;454;g3ad06559fa8_0_6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ad06559fa8_0_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g3ad06559fa8_0_6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ad06559fa8_0_6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7" name="Google Shape;467;g3ad06559fa8_0_6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ad06559fa8_0_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4" name="Google Shape;474;g3ad06559fa8_0_6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ad06559fa8_0_6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0" name="Google Shape;480;g3ad06559fa8_0_6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ad06559fa8_0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8" name="Google Shape;488;g3ad06559fa8_0_6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ad06559fa8_0_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6" name="Google Shape;496;g3ad06559fa8_0_6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a48de34dde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3" name="Google Shape;503;g3a48de34dde_0_2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54" name="Shape 54"/>
        <p:cNvGrpSpPr/>
        <p:nvPr/>
      </p:nvGrpSpPr>
      <p:grpSpPr>
        <a:xfrm>
          <a:off x="0" y="0"/>
          <a:ext cx="0" cy="0"/>
          <a:chOff x="0" y="0"/>
          <a:chExt cx="0" cy="0"/>
        </a:xfrm>
      </p:grpSpPr>
      <p:cxnSp>
        <p:nvCxnSpPr>
          <p:cNvPr id="55" name="Google Shape;55;p14"/>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56" name="Google Shape;56;p14"/>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57" name="Google Shape;57;p14"/>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58" name="Google Shape;58;p14"/>
          <p:cNvSpPr txBox="1"/>
          <p:nvPr>
            <p:ph type="ctrTitle"/>
          </p:nvPr>
        </p:nvSpPr>
        <p:spPr>
          <a:xfrm>
            <a:off x="2371725" y="630225"/>
            <a:ext cx="6331500" cy="154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59" name="Google Shape;59;p14"/>
          <p:cNvSpPr txBox="1"/>
          <p:nvPr>
            <p:ph idx="1" type="subTitle"/>
          </p:nvPr>
        </p:nvSpPr>
        <p:spPr>
          <a:xfrm>
            <a:off x="2390267" y="3238450"/>
            <a:ext cx="6331500" cy="1241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1800"/>
              <a:buNone/>
              <a:defRPr>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60" name="Google Shape;60;p14"/>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cxnSp>
        <p:nvCxnSpPr>
          <p:cNvPr id="62" name="Google Shape;62;p1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63" name="Google Shape;63;p1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64" name="Google Shape;64;p1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65" name="Google Shape;65;p15"/>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6" name="Google Shape;66;p15"/>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7" name="Google Shape;67;p15"/>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68" name="Shape 68"/>
        <p:cNvGrpSpPr/>
        <p:nvPr/>
      </p:nvGrpSpPr>
      <p:grpSpPr>
        <a:xfrm>
          <a:off x="0" y="0"/>
          <a:ext cx="0" cy="0"/>
          <a:chOff x="0" y="0"/>
          <a:chExt cx="0" cy="0"/>
        </a:xfrm>
      </p:grpSpPr>
      <p:cxnSp>
        <p:nvCxnSpPr>
          <p:cNvPr id="69" name="Google Shape;69;p16"/>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70" name="Google Shape;70;p16"/>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71" name="Google Shape;71;p16"/>
          <p:cNvSpPr txBox="1"/>
          <p:nvPr>
            <p:ph type="title"/>
          </p:nvPr>
        </p:nvSpPr>
        <p:spPr>
          <a:xfrm>
            <a:off x="406425" y="1806825"/>
            <a:ext cx="8296800" cy="1542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72" name="Google Shape;72;p16"/>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cxnSp>
        <p:nvCxnSpPr>
          <p:cNvPr id="74" name="Google Shape;74;p17"/>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75" name="Google Shape;75;p17"/>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76" name="Google Shape;76;p1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77" name="Google Shape;77;p17"/>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8" name="Google Shape;78;p17"/>
          <p:cNvSpPr txBox="1"/>
          <p:nvPr>
            <p:ph idx="1" type="body"/>
          </p:nvPr>
        </p:nvSpPr>
        <p:spPr>
          <a:xfrm>
            <a:off x="2400303" y="1602675"/>
            <a:ext cx="3071400" cy="3002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9" name="Google Shape;79;p17"/>
          <p:cNvSpPr txBox="1"/>
          <p:nvPr>
            <p:ph idx="2" type="body"/>
          </p:nvPr>
        </p:nvSpPr>
        <p:spPr>
          <a:xfrm>
            <a:off x="5650572" y="1602675"/>
            <a:ext cx="3071400" cy="3002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0" name="Google Shape;80;p17"/>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8"/>
          <p:cNvSpPr txBox="1"/>
          <p:nvPr>
            <p:ph type="title"/>
          </p:nvPr>
        </p:nvSpPr>
        <p:spPr>
          <a:xfrm>
            <a:off x="303300" y="411575"/>
            <a:ext cx="8520600" cy="639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3" name="Google Shape;83;p18"/>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4" name="Shape 84"/>
        <p:cNvGrpSpPr/>
        <p:nvPr/>
      </p:nvGrpSpPr>
      <p:grpSpPr>
        <a:xfrm>
          <a:off x="0" y="0"/>
          <a:ext cx="0" cy="0"/>
          <a:chOff x="0" y="0"/>
          <a:chExt cx="0" cy="0"/>
        </a:xfrm>
      </p:grpSpPr>
      <p:cxnSp>
        <p:nvCxnSpPr>
          <p:cNvPr id="85" name="Google Shape;85;p19"/>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86" name="Google Shape;86;p19"/>
          <p:cNvSpPr txBox="1"/>
          <p:nvPr>
            <p:ph type="title"/>
          </p:nvPr>
        </p:nvSpPr>
        <p:spPr>
          <a:xfrm>
            <a:off x="319500" y="936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7" name="Google Shape;87;p19"/>
          <p:cNvSpPr txBox="1"/>
          <p:nvPr>
            <p:ph idx="1" type="body"/>
          </p:nvPr>
        </p:nvSpPr>
        <p:spPr>
          <a:xfrm>
            <a:off x="319500" y="1846804"/>
            <a:ext cx="2808000" cy="2806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8" name="Google Shape;88;p19"/>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89" name="Shape 89"/>
        <p:cNvGrpSpPr/>
        <p:nvPr/>
      </p:nvGrpSpPr>
      <p:grpSpPr>
        <a:xfrm>
          <a:off x="0" y="0"/>
          <a:ext cx="0" cy="0"/>
          <a:chOff x="0" y="0"/>
          <a:chExt cx="0" cy="0"/>
        </a:xfrm>
      </p:grpSpPr>
      <p:cxnSp>
        <p:nvCxnSpPr>
          <p:cNvPr id="90" name="Google Shape;90;p20"/>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91" name="Google Shape;91;p20"/>
          <p:cNvSpPr txBox="1"/>
          <p:nvPr>
            <p:ph type="title"/>
          </p:nvPr>
        </p:nvSpPr>
        <p:spPr>
          <a:xfrm>
            <a:off x="283103" y="712141"/>
            <a:ext cx="6244200" cy="38355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92" name="Google Shape;92;p20"/>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3" name="Shape 93"/>
        <p:cNvGrpSpPr/>
        <p:nvPr/>
      </p:nvGrpSpPr>
      <p:grpSpPr>
        <a:xfrm>
          <a:off x="0" y="0"/>
          <a:ext cx="0" cy="0"/>
          <a:chOff x="0" y="0"/>
          <a:chExt cx="0" cy="0"/>
        </a:xfrm>
      </p:grpSpPr>
      <p:sp>
        <p:nvSpPr>
          <p:cNvPr id="94" name="Google Shape;94;p21"/>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5" name="Google Shape;95;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96" name="Google Shape;96;p21"/>
          <p:cNvSpPr txBox="1"/>
          <p:nvPr>
            <p:ph type="title"/>
          </p:nvPr>
        </p:nvSpPr>
        <p:spPr>
          <a:xfrm>
            <a:off x="265500" y="1397350"/>
            <a:ext cx="4045200" cy="1318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dk1"/>
              </a:buClr>
              <a:buSzPts val="3600"/>
              <a:buNone/>
              <a:defRPr sz="3600">
                <a:solidFill>
                  <a:schemeClr val="dk1"/>
                </a:solidFill>
              </a:defRPr>
            </a:lvl1pPr>
            <a:lvl2pPr lvl="1" algn="ctr">
              <a:lnSpc>
                <a:spcPct val="100000"/>
              </a:lnSpc>
              <a:spcBef>
                <a:spcPts val="0"/>
              </a:spcBef>
              <a:spcAft>
                <a:spcPts val="0"/>
              </a:spcAft>
              <a:buClr>
                <a:schemeClr val="dk1"/>
              </a:buClr>
              <a:buSzPts val="3600"/>
              <a:buNone/>
              <a:defRPr sz="3600">
                <a:solidFill>
                  <a:schemeClr val="dk1"/>
                </a:solidFill>
              </a:defRPr>
            </a:lvl2pPr>
            <a:lvl3pPr lvl="2" algn="ctr">
              <a:lnSpc>
                <a:spcPct val="100000"/>
              </a:lnSpc>
              <a:spcBef>
                <a:spcPts val="0"/>
              </a:spcBef>
              <a:spcAft>
                <a:spcPts val="0"/>
              </a:spcAft>
              <a:buClr>
                <a:schemeClr val="dk1"/>
              </a:buClr>
              <a:buSzPts val="3600"/>
              <a:buNone/>
              <a:defRPr sz="3600">
                <a:solidFill>
                  <a:schemeClr val="dk1"/>
                </a:solidFill>
              </a:defRPr>
            </a:lvl3pPr>
            <a:lvl4pPr lvl="3" algn="ctr">
              <a:lnSpc>
                <a:spcPct val="100000"/>
              </a:lnSpc>
              <a:spcBef>
                <a:spcPts val="0"/>
              </a:spcBef>
              <a:spcAft>
                <a:spcPts val="0"/>
              </a:spcAft>
              <a:buClr>
                <a:schemeClr val="dk1"/>
              </a:buClr>
              <a:buSzPts val="3600"/>
              <a:buNone/>
              <a:defRPr sz="3600">
                <a:solidFill>
                  <a:schemeClr val="dk1"/>
                </a:solidFill>
              </a:defRPr>
            </a:lvl4pPr>
            <a:lvl5pPr lvl="4" algn="ctr">
              <a:lnSpc>
                <a:spcPct val="100000"/>
              </a:lnSpc>
              <a:spcBef>
                <a:spcPts val="0"/>
              </a:spcBef>
              <a:spcAft>
                <a:spcPts val="0"/>
              </a:spcAft>
              <a:buClr>
                <a:schemeClr val="dk1"/>
              </a:buClr>
              <a:buSzPts val="3600"/>
              <a:buNone/>
              <a:defRPr sz="3600">
                <a:solidFill>
                  <a:schemeClr val="dk1"/>
                </a:solidFill>
              </a:defRPr>
            </a:lvl5pPr>
            <a:lvl6pPr lvl="5" algn="ctr">
              <a:lnSpc>
                <a:spcPct val="100000"/>
              </a:lnSpc>
              <a:spcBef>
                <a:spcPts val="0"/>
              </a:spcBef>
              <a:spcAft>
                <a:spcPts val="0"/>
              </a:spcAft>
              <a:buClr>
                <a:schemeClr val="dk1"/>
              </a:buClr>
              <a:buSzPts val="3600"/>
              <a:buNone/>
              <a:defRPr sz="3600">
                <a:solidFill>
                  <a:schemeClr val="dk1"/>
                </a:solidFill>
              </a:defRPr>
            </a:lvl6pPr>
            <a:lvl7pPr lvl="6" algn="ctr">
              <a:lnSpc>
                <a:spcPct val="100000"/>
              </a:lnSpc>
              <a:spcBef>
                <a:spcPts val="0"/>
              </a:spcBef>
              <a:spcAft>
                <a:spcPts val="0"/>
              </a:spcAft>
              <a:buClr>
                <a:schemeClr val="dk1"/>
              </a:buClr>
              <a:buSzPts val="3600"/>
              <a:buNone/>
              <a:defRPr sz="3600">
                <a:solidFill>
                  <a:schemeClr val="dk1"/>
                </a:solidFill>
              </a:defRPr>
            </a:lvl7pPr>
            <a:lvl8pPr lvl="7" algn="ctr">
              <a:lnSpc>
                <a:spcPct val="100000"/>
              </a:lnSpc>
              <a:spcBef>
                <a:spcPts val="0"/>
              </a:spcBef>
              <a:spcAft>
                <a:spcPts val="0"/>
              </a:spcAft>
              <a:buClr>
                <a:schemeClr val="dk1"/>
              </a:buClr>
              <a:buSzPts val="3600"/>
              <a:buNone/>
              <a:defRPr sz="3600">
                <a:solidFill>
                  <a:schemeClr val="dk1"/>
                </a:solidFill>
              </a:defRPr>
            </a:lvl8pPr>
            <a:lvl9pPr lvl="8" algn="ctr">
              <a:lnSpc>
                <a:spcPct val="100000"/>
              </a:lnSpc>
              <a:spcBef>
                <a:spcPts val="0"/>
              </a:spcBef>
              <a:spcAft>
                <a:spcPts val="0"/>
              </a:spcAft>
              <a:buClr>
                <a:schemeClr val="dk1"/>
              </a:buClr>
              <a:buSzPts val="3600"/>
              <a:buNone/>
              <a:defRPr sz="3600">
                <a:solidFill>
                  <a:schemeClr val="dk1"/>
                </a:solidFill>
              </a:defRPr>
            </a:lvl9pPr>
          </a:lstStyle>
          <a:p/>
        </p:txBody>
      </p:sp>
      <p:sp>
        <p:nvSpPr>
          <p:cNvPr id="97" name="Google Shape;97;p21"/>
          <p:cNvSpPr txBox="1"/>
          <p:nvPr>
            <p:ph idx="1" type="subTitle"/>
          </p:nvPr>
        </p:nvSpPr>
        <p:spPr>
          <a:xfrm>
            <a:off x="265500" y="273537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8" name="Google Shape;98;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99" name="Google Shape;99;p2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0" name="Shape 100"/>
        <p:cNvGrpSpPr/>
        <p:nvPr/>
      </p:nvGrpSpPr>
      <p:grpSpPr>
        <a:xfrm>
          <a:off x="0" y="0"/>
          <a:ext cx="0" cy="0"/>
          <a:chOff x="0" y="0"/>
          <a:chExt cx="0" cy="0"/>
        </a:xfrm>
      </p:grpSpPr>
      <p:cxnSp>
        <p:nvCxnSpPr>
          <p:cNvPr id="101" name="Google Shape;101;p22"/>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102" name="Google Shape;102;p22"/>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103" name="Google Shape;103;p22"/>
          <p:cNvSpPr txBox="1"/>
          <p:nvPr>
            <p:ph idx="1" type="body"/>
          </p:nvPr>
        </p:nvSpPr>
        <p:spPr>
          <a:xfrm>
            <a:off x="328017" y="4226025"/>
            <a:ext cx="8388600" cy="3936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04" name="Google Shape;104;p22"/>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cxnSp>
        <p:nvCxnSpPr>
          <p:cNvPr id="106" name="Google Shape;106;p23"/>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107" name="Google Shape;107;p23"/>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108" name="Google Shape;108;p23"/>
          <p:cNvSpPr txBox="1"/>
          <p:nvPr>
            <p:ph hasCustomPrompt="1" type="title"/>
          </p:nvPr>
        </p:nvSpPr>
        <p:spPr>
          <a:xfrm>
            <a:off x="853950" y="1304850"/>
            <a:ext cx="74361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109" name="Google Shape;109;p23"/>
          <p:cNvSpPr txBox="1"/>
          <p:nvPr>
            <p:ph idx="1" type="body"/>
          </p:nvPr>
        </p:nvSpPr>
        <p:spPr>
          <a:xfrm>
            <a:off x="853950" y="2919450"/>
            <a:ext cx="74361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10" name="Google Shape;110;p23"/>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1" name="Shape 111"/>
        <p:cNvGrpSpPr/>
        <p:nvPr/>
      </p:nvGrpSpPr>
      <p:grpSpPr>
        <a:xfrm>
          <a:off x="0" y="0"/>
          <a:ext cx="0" cy="0"/>
          <a:chOff x="0" y="0"/>
          <a:chExt cx="0" cy="0"/>
        </a:xfrm>
      </p:grpSpPr>
      <p:sp>
        <p:nvSpPr>
          <p:cNvPr id="112" name="Google Shape;112;p24"/>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A">
  <p:cSld name="TITLE_AND_BODY_2_1">
    <p:spTree>
      <p:nvGrpSpPr>
        <p:cNvPr id="113" name="Shape 113"/>
        <p:cNvGrpSpPr/>
        <p:nvPr/>
      </p:nvGrpSpPr>
      <p:grpSpPr>
        <a:xfrm>
          <a:off x="0" y="0"/>
          <a:ext cx="0" cy="0"/>
          <a:chOff x="0" y="0"/>
          <a:chExt cx="0" cy="0"/>
        </a:xfrm>
      </p:grpSpPr>
      <p:sp>
        <p:nvSpPr>
          <p:cNvPr id="114" name="Google Shape;114;p25"/>
          <p:cNvSpPr/>
          <p:nvPr>
            <p:ph idx="2" type="pic"/>
          </p:nvPr>
        </p:nvSpPr>
        <p:spPr>
          <a:xfrm>
            <a:off x="3996000" y="0"/>
            <a:ext cx="5148000" cy="5143500"/>
          </a:xfrm>
          <a:prstGeom prst="rect">
            <a:avLst/>
          </a:prstGeom>
          <a:noFill/>
          <a:ln>
            <a:noFill/>
          </a:ln>
        </p:spPr>
      </p:sp>
      <p:sp>
        <p:nvSpPr>
          <p:cNvPr id="115" name="Google Shape;115;p25"/>
          <p:cNvSpPr txBox="1"/>
          <p:nvPr>
            <p:ph type="title"/>
          </p:nvPr>
        </p:nvSpPr>
        <p:spPr>
          <a:xfrm>
            <a:off x="327575" y="340500"/>
            <a:ext cx="3548100" cy="10935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6" name="Google Shape;116;p25"/>
          <p:cNvSpPr txBox="1"/>
          <p:nvPr>
            <p:ph idx="1" type="body"/>
          </p:nvPr>
        </p:nvSpPr>
        <p:spPr>
          <a:xfrm>
            <a:off x="327575" y="1616646"/>
            <a:ext cx="3548100" cy="3288300"/>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2.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9pPr>
          </a:lstStyle>
          <a:p/>
        </p:txBody>
      </p:sp>
      <p:sp>
        <p:nvSpPr>
          <p:cNvPr id="52" name="Google Shape;52;p13"/>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Lato"/>
              <a:buChar char="●"/>
              <a:defRPr b="0" i="0" sz="1800" u="none" cap="none" strike="noStrike">
                <a:solidFill>
                  <a:schemeClr val="dk2"/>
                </a:solidFill>
                <a:latin typeface="Lato"/>
                <a:ea typeface="Lato"/>
                <a:cs typeface="Lato"/>
                <a:sym typeface="Lato"/>
              </a:defRPr>
            </a:lvl1pPr>
            <a:lvl2pPr indent="-317500" lvl="1" marL="9144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2pPr>
            <a:lvl3pPr indent="-317500" lvl="2" marL="13716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3pPr>
            <a:lvl4pPr indent="-317500" lvl="3" marL="18288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4pPr>
            <a:lvl5pPr indent="-317500" lvl="4" marL="22860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5pPr>
            <a:lvl6pPr indent="-317500" lvl="5" marL="27432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6pPr>
            <a:lvl7pPr indent="-317500" lvl="6" marL="32004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7pPr>
            <a:lvl8pPr indent="-317500" lvl="7" marL="36576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8pPr>
            <a:lvl9pPr indent="-317500" lvl="8" marL="41148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9pPr>
          </a:lstStyle>
          <a:p/>
        </p:txBody>
      </p:sp>
      <p:sp>
        <p:nvSpPr>
          <p:cNvPr id="53" name="Google Shape;53;p13"/>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4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20.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4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5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4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3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4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image" Target="../media/image4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 Id="rId3" Type="http://schemas.openxmlformats.org/officeDocument/2006/relationships/image" Target="../media/image3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 Id="rId3" Type="http://schemas.openxmlformats.org/officeDocument/2006/relationships/image" Target="../media/image4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 Id="rId3" Type="http://schemas.openxmlformats.org/officeDocument/2006/relationships/image" Target="../media/image41.png"/><Relationship Id="rId4" Type="http://schemas.openxmlformats.org/officeDocument/2006/relationships/image" Target="../media/image4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 Id="rId3" Type="http://schemas.openxmlformats.org/officeDocument/2006/relationships/image" Target="../media/image5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6"/>
          <p:cNvSpPr txBox="1"/>
          <p:nvPr>
            <p:ph type="ctrTitle"/>
          </p:nvPr>
        </p:nvSpPr>
        <p:spPr>
          <a:xfrm>
            <a:off x="855400" y="630225"/>
            <a:ext cx="6544800" cy="29259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ts val="990"/>
              <a:buNone/>
            </a:pPr>
            <a:r>
              <a:rPr lang="en-GB"/>
              <a:t>Chapter 11 - Fine-Tuning Representation Models for Classification</a:t>
            </a:r>
            <a:endParaRPr/>
          </a:p>
          <a:p>
            <a:pPr indent="0" lvl="0" marL="0" rtl="0" algn="l">
              <a:lnSpc>
                <a:spcPct val="100000"/>
              </a:lnSpc>
              <a:spcBef>
                <a:spcPts val="0"/>
              </a:spcBef>
              <a:spcAft>
                <a:spcPts val="0"/>
              </a:spcAft>
              <a:buSzPct val="111111"/>
              <a:buNone/>
            </a:pPr>
            <a:r>
              <a:t/>
            </a:r>
            <a:endParaRPr/>
          </a:p>
        </p:txBody>
      </p:sp>
      <p:sp>
        <p:nvSpPr>
          <p:cNvPr id="122" name="Google Shape;122;p26"/>
          <p:cNvSpPr txBox="1"/>
          <p:nvPr>
            <p:ph idx="1" type="subTitle"/>
          </p:nvPr>
        </p:nvSpPr>
        <p:spPr>
          <a:xfrm>
            <a:off x="2390267" y="2960850"/>
            <a:ext cx="6331500" cy="1241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1800"/>
              <a:buNone/>
            </a:pPr>
            <a:r>
              <a:rPr lang="en-GB"/>
              <a:t>From the book Hands-On Large Language Models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7"/>
          <p:cNvSpPr txBox="1"/>
          <p:nvPr>
            <p:ph type="title"/>
          </p:nvPr>
        </p:nvSpPr>
        <p:spPr>
          <a:xfrm>
            <a:off x="486675" y="100575"/>
            <a:ext cx="76827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Supervised Classification</a:t>
            </a:r>
            <a:endParaRPr>
              <a:highlight>
                <a:schemeClr val="lt1"/>
              </a:highlight>
            </a:endParaRPr>
          </a:p>
        </p:txBody>
      </p:sp>
      <p:sp>
        <p:nvSpPr>
          <p:cNvPr id="128" name="Google Shape;128;p27"/>
          <p:cNvSpPr txBox="1"/>
          <p:nvPr>
            <p:ph idx="1" type="body"/>
          </p:nvPr>
        </p:nvSpPr>
        <p:spPr>
          <a:xfrm>
            <a:off x="0" y="514500"/>
            <a:ext cx="3632100" cy="41145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lang="en-GB" sz="2200"/>
              <a:t>Previously, we </a:t>
            </a:r>
            <a:r>
              <a:rPr lang="en-GB" sz="2200"/>
              <a:t>finetuned</a:t>
            </a:r>
            <a:r>
              <a:rPr lang="en-GB" sz="2200"/>
              <a:t> pretrained models to perform specific tasks (sentiment prediction).</a:t>
            </a:r>
            <a:endParaRPr sz="2200"/>
          </a:p>
          <a:p>
            <a:pPr indent="0" lvl="0" marL="0" rtl="0" algn="l">
              <a:spcBef>
                <a:spcPts val="1200"/>
              </a:spcBef>
              <a:spcAft>
                <a:spcPts val="0"/>
              </a:spcAft>
              <a:buNone/>
            </a:pPr>
            <a:r>
              <a:rPr lang="en-GB" sz="2200"/>
              <a:t>W</a:t>
            </a:r>
            <a:r>
              <a:rPr lang="en-GB" sz="2200"/>
              <a:t>e kept the pretrained model </a:t>
            </a:r>
            <a:r>
              <a:rPr b="1" lang="en-GB" sz="2200"/>
              <a:t>frozen</a:t>
            </a:r>
            <a:r>
              <a:rPr lang="en-GB" sz="2200"/>
              <a:t> (nontrainable), not updating its weights and </a:t>
            </a:r>
            <a:r>
              <a:rPr b="1" lang="en-GB" sz="2200"/>
              <a:t>just</a:t>
            </a:r>
            <a:r>
              <a:rPr lang="en-GB" sz="2200"/>
              <a:t> </a:t>
            </a:r>
            <a:r>
              <a:rPr b="1" lang="en-GB" sz="2200"/>
              <a:t>fine-tuning the classification head</a:t>
            </a:r>
            <a:r>
              <a:rPr lang="en-GB" sz="2200"/>
              <a:t>.</a:t>
            </a:r>
            <a:endParaRPr sz="2200"/>
          </a:p>
          <a:p>
            <a:pPr indent="0" lvl="0" marL="0" rtl="0" algn="l">
              <a:spcBef>
                <a:spcPts val="1200"/>
              </a:spcBef>
              <a:spcAft>
                <a:spcPts val="0"/>
              </a:spcAft>
              <a:buNone/>
            </a:pPr>
            <a:r>
              <a:t/>
            </a:r>
            <a:endParaRPr sz="2200"/>
          </a:p>
        </p:txBody>
      </p:sp>
      <p:pic>
        <p:nvPicPr>
          <p:cNvPr id="129" name="Google Shape;129;p27"/>
          <p:cNvPicPr preferRelativeResize="0"/>
          <p:nvPr/>
        </p:nvPicPr>
        <p:blipFill>
          <a:blip r:embed="rId3">
            <a:alphaModFix/>
          </a:blip>
          <a:stretch>
            <a:fillRect/>
          </a:stretch>
        </p:blipFill>
        <p:spPr>
          <a:xfrm>
            <a:off x="3499025" y="735975"/>
            <a:ext cx="5540525" cy="34174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8"/>
          <p:cNvSpPr txBox="1"/>
          <p:nvPr>
            <p:ph type="title"/>
          </p:nvPr>
        </p:nvSpPr>
        <p:spPr>
          <a:xfrm>
            <a:off x="486675" y="100575"/>
            <a:ext cx="76827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Supervised Classification</a:t>
            </a:r>
            <a:endParaRPr>
              <a:highlight>
                <a:schemeClr val="lt1"/>
              </a:highlight>
            </a:endParaRPr>
          </a:p>
        </p:txBody>
      </p:sp>
      <p:sp>
        <p:nvSpPr>
          <p:cNvPr id="135" name="Google Shape;135;p28"/>
          <p:cNvSpPr txBox="1"/>
          <p:nvPr>
            <p:ph idx="1" type="body"/>
          </p:nvPr>
        </p:nvSpPr>
        <p:spPr>
          <a:xfrm>
            <a:off x="0" y="514500"/>
            <a:ext cx="3632100" cy="41145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t>Here, we will treat the pretrained model and the classification head as </a:t>
            </a:r>
            <a:r>
              <a:rPr b="1" lang="en-GB" sz="2200"/>
              <a:t>one architecture </a:t>
            </a:r>
            <a:r>
              <a:rPr lang="en-GB" sz="2200"/>
              <a:t>during training,</a:t>
            </a:r>
            <a:endParaRPr sz="2200"/>
          </a:p>
          <a:p>
            <a:pPr indent="0" lvl="0" marL="0" rtl="0" algn="l">
              <a:spcBef>
                <a:spcPts val="1200"/>
              </a:spcBef>
              <a:spcAft>
                <a:spcPts val="0"/>
              </a:spcAft>
              <a:buNone/>
            </a:pPr>
            <a:r>
              <a:rPr lang="en-GB" sz="2200"/>
              <a:t>This allows the pretrained model to change its weights and parameters</a:t>
            </a:r>
            <a:endParaRPr sz="2200"/>
          </a:p>
          <a:p>
            <a:pPr indent="0" lvl="0" marL="0" rtl="0" algn="l">
              <a:spcBef>
                <a:spcPts val="1200"/>
              </a:spcBef>
              <a:spcAft>
                <a:spcPts val="0"/>
              </a:spcAft>
              <a:buNone/>
            </a:pPr>
            <a:r>
              <a:t/>
            </a:r>
            <a:endParaRPr sz="2200"/>
          </a:p>
        </p:txBody>
      </p:sp>
      <p:pic>
        <p:nvPicPr>
          <p:cNvPr id="136" name="Google Shape;136;p28"/>
          <p:cNvPicPr preferRelativeResize="0"/>
          <p:nvPr/>
        </p:nvPicPr>
        <p:blipFill>
          <a:blip r:embed="rId3">
            <a:alphaModFix/>
          </a:blip>
          <a:stretch>
            <a:fillRect/>
          </a:stretch>
        </p:blipFill>
        <p:spPr>
          <a:xfrm>
            <a:off x="3632100" y="735975"/>
            <a:ext cx="5431172" cy="3002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9"/>
          <p:cNvSpPr txBox="1"/>
          <p:nvPr>
            <p:ph type="title"/>
          </p:nvPr>
        </p:nvSpPr>
        <p:spPr>
          <a:xfrm>
            <a:off x="486675" y="100575"/>
            <a:ext cx="76827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Supervised Classification</a:t>
            </a:r>
            <a:endParaRPr>
              <a:highlight>
                <a:schemeClr val="lt1"/>
              </a:highlight>
            </a:endParaRPr>
          </a:p>
        </p:txBody>
      </p:sp>
      <p:sp>
        <p:nvSpPr>
          <p:cNvPr id="142" name="Google Shape;142;p29"/>
          <p:cNvSpPr txBox="1"/>
          <p:nvPr>
            <p:ph idx="1" type="body"/>
          </p:nvPr>
        </p:nvSpPr>
        <p:spPr>
          <a:xfrm>
            <a:off x="0" y="514500"/>
            <a:ext cx="3632100" cy="41145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t>Here, we will treat the pretrained model and the classification head as </a:t>
            </a:r>
            <a:r>
              <a:rPr b="1" lang="en-GB" sz="2200"/>
              <a:t>one architecture </a:t>
            </a:r>
            <a:r>
              <a:rPr lang="en-GB" sz="2200"/>
              <a:t>during training,</a:t>
            </a:r>
            <a:endParaRPr sz="2200"/>
          </a:p>
          <a:p>
            <a:pPr indent="0" lvl="0" marL="0" rtl="0" algn="l">
              <a:spcBef>
                <a:spcPts val="1200"/>
              </a:spcBef>
              <a:spcAft>
                <a:spcPts val="0"/>
              </a:spcAft>
              <a:buNone/>
            </a:pPr>
            <a:r>
              <a:rPr lang="en-GB" sz="2200"/>
              <a:t>This allows the pretrained model to change its weights and parameters</a:t>
            </a:r>
            <a:endParaRPr sz="2200"/>
          </a:p>
          <a:p>
            <a:pPr indent="0" lvl="0" marL="0" rtl="0" algn="l">
              <a:spcBef>
                <a:spcPts val="1200"/>
              </a:spcBef>
              <a:spcAft>
                <a:spcPts val="0"/>
              </a:spcAft>
              <a:buNone/>
            </a:pPr>
            <a:r>
              <a:t/>
            </a:r>
            <a:endParaRPr sz="2200"/>
          </a:p>
        </p:txBody>
      </p:sp>
      <p:pic>
        <p:nvPicPr>
          <p:cNvPr id="143" name="Google Shape;143;p29"/>
          <p:cNvPicPr preferRelativeResize="0"/>
          <p:nvPr/>
        </p:nvPicPr>
        <p:blipFill>
          <a:blip r:embed="rId3">
            <a:alphaModFix/>
          </a:blip>
          <a:stretch>
            <a:fillRect/>
          </a:stretch>
        </p:blipFill>
        <p:spPr>
          <a:xfrm>
            <a:off x="3632100" y="735975"/>
            <a:ext cx="5431172" cy="3002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0"/>
          <p:cNvSpPr txBox="1"/>
          <p:nvPr>
            <p:ph type="title"/>
          </p:nvPr>
        </p:nvSpPr>
        <p:spPr>
          <a:xfrm>
            <a:off x="486675" y="100575"/>
            <a:ext cx="76827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Supervised Classification</a:t>
            </a:r>
            <a:endParaRPr>
              <a:highlight>
                <a:schemeClr val="lt1"/>
              </a:highlight>
            </a:endParaRPr>
          </a:p>
        </p:txBody>
      </p:sp>
      <p:sp>
        <p:nvSpPr>
          <p:cNvPr id="149" name="Google Shape;149;p30"/>
          <p:cNvSpPr txBox="1"/>
          <p:nvPr>
            <p:ph idx="1" type="body"/>
          </p:nvPr>
        </p:nvSpPr>
        <p:spPr>
          <a:xfrm>
            <a:off x="-66550" y="514500"/>
            <a:ext cx="3684900" cy="41145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t>We will use the bert-base-cased model as our pretrained model and train it with a classification head (neural network).</a:t>
            </a:r>
            <a:endParaRPr sz="2200"/>
          </a:p>
          <a:p>
            <a:pPr indent="0" lvl="0" marL="0" rtl="0" algn="l">
              <a:spcBef>
                <a:spcPts val="1200"/>
              </a:spcBef>
              <a:spcAft>
                <a:spcPts val="0"/>
              </a:spcAft>
              <a:buNone/>
            </a:pPr>
            <a:r>
              <a:rPr lang="en-GB" sz="2200"/>
              <a:t>This means that the classification head and the pretrained model are </a:t>
            </a:r>
            <a:r>
              <a:rPr b="1" lang="en-GB" sz="2200"/>
              <a:t>both updated during the training.</a:t>
            </a:r>
            <a:endParaRPr b="1" sz="2200"/>
          </a:p>
        </p:txBody>
      </p:sp>
      <p:pic>
        <p:nvPicPr>
          <p:cNvPr id="150" name="Google Shape;150;p30"/>
          <p:cNvPicPr preferRelativeResize="0"/>
          <p:nvPr/>
        </p:nvPicPr>
        <p:blipFill>
          <a:blip r:embed="rId3">
            <a:alphaModFix/>
          </a:blip>
          <a:stretch>
            <a:fillRect/>
          </a:stretch>
        </p:blipFill>
        <p:spPr>
          <a:xfrm>
            <a:off x="3571150" y="688450"/>
            <a:ext cx="5470581" cy="3338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1"/>
          <p:cNvSpPr txBox="1"/>
          <p:nvPr>
            <p:ph type="title"/>
          </p:nvPr>
        </p:nvSpPr>
        <p:spPr>
          <a:xfrm>
            <a:off x="486675" y="100575"/>
            <a:ext cx="76827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Fine-Tuning a Pretrained BERT Model</a:t>
            </a:r>
            <a:endParaRPr>
              <a:highlight>
                <a:schemeClr val="lt1"/>
              </a:highlight>
            </a:endParaRPr>
          </a:p>
        </p:txBody>
      </p:sp>
      <p:sp>
        <p:nvSpPr>
          <p:cNvPr id="156" name="Google Shape;156;p31"/>
          <p:cNvSpPr txBox="1"/>
          <p:nvPr>
            <p:ph idx="1" type="body"/>
          </p:nvPr>
        </p:nvSpPr>
        <p:spPr>
          <a:xfrm>
            <a:off x="47525" y="552525"/>
            <a:ext cx="8922300" cy="9843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t>We will use the same </a:t>
            </a:r>
            <a:r>
              <a:rPr b="1" lang="en-GB" sz="2200"/>
              <a:t>Rotten Tomatoes </a:t>
            </a:r>
            <a:r>
              <a:rPr lang="en-GB" sz="2200"/>
              <a:t>dataset, which contains 5,331 positive and 5,331 negative movie reviews.</a:t>
            </a:r>
            <a:endParaRPr b="1" sz="2200"/>
          </a:p>
        </p:txBody>
      </p:sp>
      <p:pic>
        <p:nvPicPr>
          <p:cNvPr id="157" name="Google Shape;157;p31"/>
          <p:cNvPicPr preferRelativeResize="0"/>
          <p:nvPr/>
        </p:nvPicPr>
        <p:blipFill>
          <a:blip r:embed="rId3">
            <a:alphaModFix/>
          </a:blip>
          <a:stretch>
            <a:fillRect/>
          </a:stretch>
        </p:blipFill>
        <p:spPr>
          <a:xfrm>
            <a:off x="418550" y="1793450"/>
            <a:ext cx="7505625" cy="1312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2"/>
          <p:cNvSpPr txBox="1"/>
          <p:nvPr>
            <p:ph type="title"/>
          </p:nvPr>
        </p:nvSpPr>
        <p:spPr>
          <a:xfrm>
            <a:off x="486675" y="100575"/>
            <a:ext cx="76827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Fine-Tuning a Pretrained BERT Model</a:t>
            </a:r>
            <a:endParaRPr>
              <a:highlight>
                <a:schemeClr val="lt1"/>
              </a:highlight>
            </a:endParaRPr>
          </a:p>
        </p:txBody>
      </p:sp>
      <p:sp>
        <p:nvSpPr>
          <p:cNvPr id="163" name="Google Shape;163;p32"/>
          <p:cNvSpPr txBox="1"/>
          <p:nvPr>
            <p:ph idx="1" type="body"/>
          </p:nvPr>
        </p:nvSpPr>
        <p:spPr>
          <a:xfrm>
            <a:off x="53850" y="581025"/>
            <a:ext cx="9036300" cy="14214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t>As mentioned above, we use </a:t>
            </a:r>
            <a:r>
              <a:rPr lang="en-GB" sz="2200">
                <a:solidFill>
                  <a:srgbClr val="188038"/>
                </a:solidFill>
                <a:latin typeface="Roboto Mono"/>
                <a:ea typeface="Roboto Mono"/>
                <a:cs typeface="Roboto Mono"/>
                <a:sym typeface="Roboto Mono"/>
              </a:rPr>
              <a:t>bert-base-cased</a:t>
            </a:r>
            <a:r>
              <a:rPr lang="en-GB" sz="2200"/>
              <a:t> as the pretrained model. This model was pretrained on the English Wikipedia and a large dataset of unpublished books.</a:t>
            </a:r>
            <a:endParaRPr sz="2200"/>
          </a:p>
        </p:txBody>
      </p:sp>
      <p:pic>
        <p:nvPicPr>
          <p:cNvPr id="164" name="Google Shape;164;p32"/>
          <p:cNvPicPr preferRelativeResize="0"/>
          <p:nvPr/>
        </p:nvPicPr>
        <p:blipFill>
          <a:blip r:embed="rId3">
            <a:alphaModFix/>
          </a:blip>
          <a:stretch>
            <a:fillRect/>
          </a:stretch>
        </p:blipFill>
        <p:spPr>
          <a:xfrm>
            <a:off x="209450" y="1888675"/>
            <a:ext cx="8582025" cy="2619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3"/>
          <p:cNvSpPr txBox="1"/>
          <p:nvPr>
            <p:ph type="title"/>
          </p:nvPr>
        </p:nvSpPr>
        <p:spPr>
          <a:xfrm>
            <a:off x="486675" y="100575"/>
            <a:ext cx="76827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Fine-Tuning a Pretrained BERT Model</a:t>
            </a:r>
            <a:endParaRPr>
              <a:highlight>
                <a:schemeClr val="lt1"/>
              </a:highlight>
            </a:endParaRPr>
          </a:p>
        </p:txBody>
      </p:sp>
      <p:sp>
        <p:nvSpPr>
          <p:cNvPr id="170" name="Google Shape;170;p33"/>
          <p:cNvSpPr txBox="1"/>
          <p:nvPr>
            <p:ph idx="1" type="body"/>
          </p:nvPr>
        </p:nvSpPr>
        <p:spPr>
          <a:xfrm>
            <a:off x="53850" y="581025"/>
            <a:ext cx="9036300" cy="14214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t>Now that the model and the tokenizer have been loaded, we will tokenize the data:</a:t>
            </a:r>
            <a:endParaRPr sz="2200"/>
          </a:p>
        </p:txBody>
      </p:sp>
      <p:pic>
        <p:nvPicPr>
          <p:cNvPr id="171" name="Google Shape;171;p33"/>
          <p:cNvPicPr preferRelativeResize="0"/>
          <p:nvPr/>
        </p:nvPicPr>
        <p:blipFill>
          <a:blip r:embed="rId3">
            <a:alphaModFix/>
          </a:blip>
          <a:stretch>
            <a:fillRect/>
          </a:stretch>
        </p:blipFill>
        <p:spPr>
          <a:xfrm>
            <a:off x="643788" y="1460925"/>
            <a:ext cx="7856424" cy="3405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4"/>
          <p:cNvSpPr txBox="1"/>
          <p:nvPr>
            <p:ph type="title"/>
          </p:nvPr>
        </p:nvSpPr>
        <p:spPr>
          <a:xfrm>
            <a:off x="486675" y="100575"/>
            <a:ext cx="76827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Fine-Tuning a Pretrained BERT Model</a:t>
            </a:r>
            <a:endParaRPr>
              <a:highlight>
                <a:schemeClr val="lt1"/>
              </a:highlight>
            </a:endParaRPr>
          </a:p>
        </p:txBody>
      </p:sp>
      <p:sp>
        <p:nvSpPr>
          <p:cNvPr id="177" name="Google Shape;177;p34"/>
          <p:cNvSpPr txBox="1"/>
          <p:nvPr>
            <p:ph idx="1" type="body"/>
          </p:nvPr>
        </p:nvSpPr>
        <p:spPr>
          <a:xfrm>
            <a:off x="53850" y="581025"/>
            <a:ext cx="3897000" cy="45624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lang="en-GB" sz="2200"/>
              <a:t>Before creating the </a:t>
            </a:r>
            <a:r>
              <a:rPr lang="en-GB" sz="2200">
                <a:solidFill>
                  <a:srgbClr val="188038"/>
                </a:solidFill>
                <a:latin typeface="Roboto Mono"/>
                <a:ea typeface="Roboto Mono"/>
                <a:cs typeface="Roboto Mono"/>
                <a:sym typeface="Roboto Mono"/>
              </a:rPr>
              <a:t>Trainer</a:t>
            </a:r>
            <a:r>
              <a:rPr lang="en-GB" sz="2200"/>
              <a:t>, we will want to prepare a special </a:t>
            </a:r>
            <a:r>
              <a:rPr lang="en-GB" sz="2200">
                <a:solidFill>
                  <a:srgbClr val="188038"/>
                </a:solidFill>
                <a:latin typeface="Roboto Mono"/>
                <a:ea typeface="Roboto Mono"/>
                <a:cs typeface="Roboto Mono"/>
                <a:sym typeface="Roboto Mono"/>
              </a:rPr>
              <a:t>DataCollator</a:t>
            </a:r>
            <a:r>
              <a:rPr lang="en-GB" sz="2200"/>
              <a:t> .</a:t>
            </a:r>
            <a:endParaRPr sz="2200"/>
          </a:p>
          <a:p>
            <a:pPr indent="0" lvl="0" marL="0" rtl="0" algn="l">
              <a:spcBef>
                <a:spcPts val="1200"/>
              </a:spcBef>
              <a:spcAft>
                <a:spcPts val="0"/>
              </a:spcAft>
              <a:buNone/>
            </a:pPr>
            <a:r>
              <a:rPr lang="en-GB" sz="2200"/>
              <a:t>A </a:t>
            </a:r>
            <a:r>
              <a:rPr lang="en-GB" sz="2200">
                <a:solidFill>
                  <a:srgbClr val="188038"/>
                </a:solidFill>
                <a:latin typeface="Roboto Mono"/>
                <a:ea typeface="Roboto Mono"/>
                <a:cs typeface="Roboto Mono"/>
                <a:sym typeface="Roboto Mono"/>
              </a:rPr>
              <a:t>DataCollator</a:t>
            </a:r>
            <a:r>
              <a:rPr lang="en-GB" sz="2200"/>
              <a:t> is a special class that helps us build batches of data but also allows us to apply data augmentation.</a:t>
            </a:r>
            <a:endParaRPr sz="2200"/>
          </a:p>
          <a:p>
            <a:pPr indent="0" lvl="0" marL="0" rtl="0" algn="l">
              <a:spcBef>
                <a:spcPts val="1200"/>
              </a:spcBef>
              <a:spcAft>
                <a:spcPts val="0"/>
              </a:spcAft>
              <a:buNone/>
            </a:pPr>
            <a:r>
              <a:rPr lang="en-GB" sz="2200"/>
              <a:t>To create equally sized representations, we use </a:t>
            </a:r>
            <a:r>
              <a:rPr lang="en-GB" sz="2200">
                <a:solidFill>
                  <a:srgbClr val="188038"/>
                </a:solidFill>
                <a:latin typeface="Roboto Mono"/>
                <a:ea typeface="Roboto Mono"/>
                <a:cs typeface="Roboto Mono"/>
                <a:sym typeface="Roboto Mono"/>
              </a:rPr>
              <a:t>DataCollatorWithPadding</a:t>
            </a:r>
            <a:r>
              <a:rPr lang="en-GB" sz="2200"/>
              <a:t> .</a:t>
            </a:r>
            <a:endParaRPr sz="2200"/>
          </a:p>
        </p:txBody>
      </p:sp>
      <p:pic>
        <p:nvPicPr>
          <p:cNvPr id="178" name="Google Shape;178;p34"/>
          <p:cNvPicPr preferRelativeResize="0"/>
          <p:nvPr/>
        </p:nvPicPr>
        <p:blipFill>
          <a:blip r:embed="rId3">
            <a:alphaModFix/>
          </a:blip>
          <a:stretch>
            <a:fillRect/>
          </a:stretch>
        </p:blipFill>
        <p:spPr>
          <a:xfrm>
            <a:off x="3950850" y="1039812"/>
            <a:ext cx="5193150" cy="276398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5"/>
          <p:cNvSpPr txBox="1"/>
          <p:nvPr>
            <p:ph type="title"/>
          </p:nvPr>
        </p:nvSpPr>
        <p:spPr>
          <a:xfrm>
            <a:off x="486675" y="100575"/>
            <a:ext cx="76827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Fine-Tuning a Pretrained BERT Model</a:t>
            </a:r>
            <a:endParaRPr>
              <a:highlight>
                <a:schemeClr val="lt1"/>
              </a:highlight>
            </a:endParaRPr>
          </a:p>
        </p:txBody>
      </p:sp>
      <p:sp>
        <p:nvSpPr>
          <p:cNvPr id="184" name="Google Shape;184;p35"/>
          <p:cNvSpPr txBox="1"/>
          <p:nvPr>
            <p:ph idx="1" type="body"/>
          </p:nvPr>
        </p:nvSpPr>
        <p:spPr>
          <a:xfrm>
            <a:off x="53850" y="581025"/>
            <a:ext cx="3897000" cy="45624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t>The </a:t>
            </a:r>
            <a:r>
              <a:rPr lang="en-GB" sz="2200">
                <a:solidFill>
                  <a:srgbClr val="188038"/>
                </a:solidFill>
                <a:latin typeface="Roboto Mono"/>
                <a:ea typeface="Roboto Mono"/>
                <a:cs typeface="Roboto Mono"/>
                <a:sym typeface="Roboto Mono"/>
              </a:rPr>
              <a:t>TrainingArguments</a:t>
            </a:r>
            <a:r>
              <a:rPr lang="en-GB" sz="2200"/>
              <a:t> class defines hyperparameters we want to tune, like the learning rate and the number of epochs.</a:t>
            </a:r>
            <a:endParaRPr sz="2200"/>
          </a:p>
          <a:p>
            <a:pPr indent="0" lvl="0" marL="0" rtl="0" algn="l">
              <a:spcBef>
                <a:spcPts val="1200"/>
              </a:spcBef>
              <a:spcAft>
                <a:spcPts val="0"/>
              </a:spcAft>
              <a:buNone/>
            </a:pPr>
            <a:r>
              <a:t/>
            </a:r>
            <a:endParaRPr sz="2200"/>
          </a:p>
          <a:p>
            <a:pPr indent="0" lvl="0" marL="0" rtl="0" algn="l">
              <a:spcBef>
                <a:spcPts val="1200"/>
              </a:spcBef>
              <a:spcAft>
                <a:spcPts val="0"/>
              </a:spcAft>
              <a:buNone/>
            </a:pPr>
            <a:r>
              <a:rPr lang="en-GB" sz="2200"/>
              <a:t>Next, we instantiate the </a:t>
            </a:r>
            <a:r>
              <a:rPr lang="en-GB" sz="2200">
                <a:solidFill>
                  <a:srgbClr val="188038"/>
                </a:solidFill>
                <a:latin typeface="Roboto Mono"/>
                <a:ea typeface="Roboto Mono"/>
                <a:cs typeface="Roboto Mono"/>
                <a:sym typeface="Roboto Mono"/>
              </a:rPr>
              <a:t>Trainer</a:t>
            </a:r>
            <a:r>
              <a:rPr lang="en-GB" sz="2200"/>
              <a:t> :</a:t>
            </a:r>
            <a:endParaRPr sz="2200"/>
          </a:p>
        </p:txBody>
      </p:sp>
      <p:pic>
        <p:nvPicPr>
          <p:cNvPr id="185" name="Google Shape;185;p35"/>
          <p:cNvPicPr preferRelativeResize="0"/>
          <p:nvPr/>
        </p:nvPicPr>
        <p:blipFill>
          <a:blip r:embed="rId3">
            <a:alphaModFix/>
          </a:blip>
          <a:stretch>
            <a:fillRect/>
          </a:stretch>
        </p:blipFill>
        <p:spPr>
          <a:xfrm>
            <a:off x="4065225" y="735975"/>
            <a:ext cx="4600351" cy="2448475"/>
          </a:xfrm>
          <a:prstGeom prst="rect">
            <a:avLst/>
          </a:prstGeom>
          <a:noFill/>
          <a:ln>
            <a:noFill/>
          </a:ln>
        </p:spPr>
      </p:pic>
      <p:pic>
        <p:nvPicPr>
          <p:cNvPr id="186" name="Google Shape;186;p35"/>
          <p:cNvPicPr preferRelativeResize="0"/>
          <p:nvPr/>
        </p:nvPicPr>
        <p:blipFill>
          <a:blip r:embed="rId4">
            <a:alphaModFix/>
          </a:blip>
          <a:stretch>
            <a:fillRect/>
          </a:stretch>
        </p:blipFill>
        <p:spPr>
          <a:xfrm>
            <a:off x="4027200" y="3184450"/>
            <a:ext cx="4284708" cy="1816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6"/>
          <p:cNvSpPr txBox="1"/>
          <p:nvPr>
            <p:ph type="title"/>
          </p:nvPr>
        </p:nvSpPr>
        <p:spPr>
          <a:xfrm>
            <a:off x="486675" y="100575"/>
            <a:ext cx="76827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Fine-Tuning a Pretrained BERT Model</a:t>
            </a:r>
            <a:endParaRPr>
              <a:highlight>
                <a:schemeClr val="lt1"/>
              </a:highlight>
            </a:endParaRPr>
          </a:p>
        </p:txBody>
      </p:sp>
      <p:sp>
        <p:nvSpPr>
          <p:cNvPr id="192" name="Google Shape;192;p36"/>
          <p:cNvSpPr txBox="1"/>
          <p:nvPr>
            <p:ph idx="1" type="body"/>
          </p:nvPr>
        </p:nvSpPr>
        <p:spPr>
          <a:xfrm>
            <a:off x="53850" y="581025"/>
            <a:ext cx="8973000" cy="5184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t>Let’s evaluate the trainer:</a:t>
            </a:r>
            <a:endParaRPr sz="2200"/>
          </a:p>
        </p:txBody>
      </p:sp>
      <p:pic>
        <p:nvPicPr>
          <p:cNvPr id="193" name="Google Shape;193;p36"/>
          <p:cNvPicPr preferRelativeResize="0"/>
          <p:nvPr/>
        </p:nvPicPr>
        <p:blipFill>
          <a:blip r:embed="rId3">
            <a:alphaModFix/>
          </a:blip>
          <a:stretch>
            <a:fillRect/>
          </a:stretch>
        </p:blipFill>
        <p:spPr>
          <a:xfrm>
            <a:off x="856150" y="1223713"/>
            <a:ext cx="6943725" cy="2943225"/>
          </a:xfrm>
          <a:prstGeom prst="rect">
            <a:avLst/>
          </a:prstGeom>
          <a:noFill/>
          <a:ln>
            <a:noFill/>
          </a:ln>
        </p:spPr>
      </p:pic>
      <p:sp>
        <p:nvSpPr>
          <p:cNvPr id="194" name="Google Shape;194;p36"/>
          <p:cNvSpPr txBox="1"/>
          <p:nvPr>
            <p:ph idx="1" type="body"/>
          </p:nvPr>
        </p:nvSpPr>
        <p:spPr>
          <a:xfrm>
            <a:off x="53850" y="4166950"/>
            <a:ext cx="8973000" cy="976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highlight>
                  <a:schemeClr val="lt1"/>
                </a:highlight>
              </a:rPr>
              <a:t>We get an F1 score of 0.85, higher than that of the task-specific model (0.80) from Chapter 4.</a:t>
            </a:r>
            <a:endParaRPr sz="2200">
              <a:highlight>
                <a:schemeClr val="lt1"/>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7"/>
          <p:cNvSpPr txBox="1"/>
          <p:nvPr>
            <p:ph type="title"/>
          </p:nvPr>
        </p:nvSpPr>
        <p:spPr>
          <a:xfrm>
            <a:off x="486675" y="100575"/>
            <a:ext cx="76827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Freezing Layers</a:t>
            </a:r>
            <a:endParaRPr>
              <a:highlight>
                <a:schemeClr val="lt1"/>
              </a:highlight>
            </a:endParaRPr>
          </a:p>
        </p:txBody>
      </p:sp>
      <p:sp>
        <p:nvSpPr>
          <p:cNvPr id="200" name="Google Shape;200;p37"/>
          <p:cNvSpPr txBox="1"/>
          <p:nvPr>
            <p:ph idx="1" type="body"/>
          </p:nvPr>
        </p:nvSpPr>
        <p:spPr>
          <a:xfrm>
            <a:off x="53850" y="581025"/>
            <a:ext cx="8973000" cy="14976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t>To further showcase the importance of training the entire network, we will freeze the main BERT model and allow training only for the classification head. This will allow for good comparisons.</a:t>
            </a:r>
            <a:endParaRPr sz="2200"/>
          </a:p>
        </p:txBody>
      </p:sp>
      <p:pic>
        <p:nvPicPr>
          <p:cNvPr id="201" name="Google Shape;201;p37"/>
          <p:cNvPicPr preferRelativeResize="0"/>
          <p:nvPr/>
        </p:nvPicPr>
        <p:blipFill>
          <a:blip r:embed="rId3">
            <a:alphaModFix/>
          </a:blip>
          <a:stretch>
            <a:fillRect/>
          </a:stretch>
        </p:blipFill>
        <p:spPr>
          <a:xfrm>
            <a:off x="139800" y="2135975"/>
            <a:ext cx="8801100" cy="1695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8"/>
          <p:cNvSpPr txBox="1"/>
          <p:nvPr>
            <p:ph type="title"/>
          </p:nvPr>
        </p:nvSpPr>
        <p:spPr>
          <a:xfrm>
            <a:off x="486675" y="100575"/>
            <a:ext cx="76827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Freezing Layers</a:t>
            </a:r>
            <a:endParaRPr>
              <a:highlight>
                <a:schemeClr val="lt1"/>
              </a:highlight>
            </a:endParaRPr>
          </a:p>
        </p:txBody>
      </p:sp>
      <p:sp>
        <p:nvSpPr>
          <p:cNvPr id="207" name="Google Shape;207;p38"/>
          <p:cNvSpPr txBox="1"/>
          <p:nvPr>
            <p:ph idx="1" type="body"/>
          </p:nvPr>
        </p:nvSpPr>
        <p:spPr>
          <a:xfrm>
            <a:off x="53850" y="581025"/>
            <a:ext cx="3697500" cy="43965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t>By inspecting the layers of the model we can see which layers we might want to freeze:</a:t>
            </a:r>
            <a:endParaRPr sz="2200"/>
          </a:p>
        </p:txBody>
      </p:sp>
      <p:pic>
        <p:nvPicPr>
          <p:cNvPr id="208" name="Google Shape;208;p38"/>
          <p:cNvPicPr preferRelativeResize="0"/>
          <p:nvPr/>
        </p:nvPicPr>
        <p:blipFill>
          <a:blip r:embed="rId3">
            <a:alphaModFix/>
          </a:blip>
          <a:stretch>
            <a:fillRect/>
          </a:stretch>
        </p:blipFill>
        <p:spPr>
          <a:xfrm>
            <a:off x="3829001" y="501100"/>
            <a:ext cx="4687087" cy="1004889"/>
          </a:xfrm>
          <a:prstGeom prst="rect">
            <a:avLst/>
          </a:prstGeom>
          <a:noFill/>
          <a:ln>
            <a:noFill/>
          </a:ln>
        </p:spPr>
      </p:pic>
      <p:pic>
        <p:nvPicPr>
          <p:cNvPr id="209" name="Google Shape;209;p38"/>
          <p:cNvPicPr preferRelativeResize="0"/>
          <p:nvPr/>
        </p:nvPicPr>
        <p:blipFill>
          <a:blip r:embed="rId4">
            <a:alphaModFix/>
          </a:blip>
          <a:stretch>
            <a:fillRect/>
          </a:stretch>
        </p:blipFill>
        <p:spPr>
          <a:xfrm>
            <a:off x="3829007" y="1527159"/>
            <a:ext cx="4631737" cy="1879654"/>
          </a:xfrm>
          <a:prstGeom prst="rect">
            <a:avLst/>
          </a:prstGeom>
          <a:noFill/>
          <a:ln>
            <a:noFill/>
          </a:ln>
        </p:spPr>
      </p:pic>
      <p:pic>
        <p:nvPicPr>
          <p:cNvPr id="210" name="Google Shape;210;p38"/>
          <p:cNvPicPr preferRelativeResize="0"/>
          <p:nvPr/>
        </p:nvPicPr>
        <p:blipFill>
          <a:blip r:embed="rId5">
            <a:alphaModFix/>
          </a:blip>
          <a:stretch>
            <a:fillRect/>
          </a:stretch>
        </p:blipFill>
        <p:spPr>
          <a:xfrm>
            <a:off x="3829000" y="3427971"/>
            <a:ext cx="4631744" cy="136895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9"/>
          <p:cNvSpPr txBox="1"/>
          <p:nvPr>
            <p:ph type="title"/>
          </p:nvPr>
        </p:nvSpPr>
        <p:spPr>
          <a:xfrm>
            <a:off x="486675" y="100575"/>
            <a:ext cx="76827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Freezing Layers</a:t>
            </a:r>
            <a:endParaRPr>
              <a:highlight>
                <a:schemeClr val="lt1"/>
              </a:highlight>
            </a:endParaRPr>
          </a:p>
        </p:txBody>
      </p:sp>
      <p:sp>
        <p:nvSpPr>
          <p:cNvPr id="216" name="Google Shape;216;p39"/>
          <p:cNvSpPr txBox="1"/>
          <p:nvPr>
            <p:ph idx="1" type="body"/>
          </p:nvPr>
        </p:nvSpPr>
        <p:spPr>
          <a:xfrm>
            <a:off x="53850" y="581025"/>
            <a:ext cx="3593100" cy="43965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t>There are 12 (0-11) encoder blocks consisting of attention heads, dense networks, and layer normalization.</a:t>
            </a:r>
            <a:endParaRPr sz="2200"/>
          </a:p>
        </p:txBody>
      </p:sp>
      <p:pic>
        <p:nvPicPr>
          <p:cNvPr id="217" name="Google Shape;217;p39"/>
          <p:cNvPicPr preferRelativeResize="0"/>
          <p:nvPr/>
        </p:nvPicPr>
        <p:blipFill>
          <a:blip r:embed="rId3">
            <a:alphaModFix/>
          </a:blip>
          <a:stretch>
            <a:fillRect/>
          </a:stretch>
        </p:blipFill>
        <p:spPr>
          <a:xfrm>
            <a:off x="3749339" y="475250"/>
            <a:ext cx="5142586" cy="43964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0"/>
          <p:cNvSpPr txBox="1"/>
          <p:nvPr>
            <p:ph type="title"/>
          </p:nvPr>
        </p:nvSpPr>
        <p:spPr>
          <a:xfrm>
            <a:off x="486675" y="100575"/>
            <a:ext cx="76827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Freezing Layers</a:t>
            </a:r>
            <a:endParaRPr>
              <a:highlight>
                <a:schemeClr val="lt1"/>
              </a:highlight>
            </a:endParaRPr>
          </a:p>
        </p:txBody>
      </p:sp>
      <p:sp>
        <p:nvSpPr>
          <p:cNvPr id="223" name="Google Shape;223;p40"/>
          <p:cNvSpPr txBox="1"/>
          <p:nvPr>
            <p:ph idx="1" type="body"/>
          </p:nvPr>
        </p:nvSpPr>
        <p:spPr>
          <a:xfrm>
            <a:off x="53850" y="581025"/>
            <a:ext cx="3593100" cy="43965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t>We are going to freeze everything but the classification head, as in chapter 2.</a:t>
            </a:r>
            <a:endParaRPr sz="2200"/>
          </a:p>
        </p:txBody>
      </p:sp>
      <p:pic>
        <p:nvPicPr>
          <p:cNvPr id="224" name="Google Shape;224;p40"/>
          <p:cNvPicPr preferRelativeResize="0"/>
          <p:nvPr/>
        </p:nvPicPr>
        <p:blipFill>
          <a:blip r:embed="rId3">
            <a:alphaModFix/>
          </a:blip>
          <a:stretch>
            <a:fillRect/>
          </a:stretch>
        </p:blipFill>
        <p:spPr>
          <a:xfrm>
            <a:off x="3590225" y="766638"/>
            <a:ext cx="5192251" cy="361023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1"/>
          <p:cNvSpPr txBox="1"/>
          <p:nvPr>
            <p:ph type="title"/>
          </p:nvPr>
        </p:nvSpPr>
        <p:spPr>
          <a:xfrm>
            <a:off x="486675" y="100575"/>
            <a:ext cx="76827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Freezing Layers</a:t>
            </a:r>
            <a:endParaRPr>
              <a:highlight>
                <a:schemeClr val="lt1"/>
              </a:highlight>
            </a:endParaRPr>
          </a:p>
        </p:txBody>
      </p:sp>
      <p:sp>
        <p:nvSpPr>
          <p:cNvPr id="230" name="Google Shape;230;p41"/>
          <p:cNvSpPr txBox="1"/>
          <p:nvPr>
            <p:ph idx="1" type="body"/>
          </p:nvPr>
        </p:nvSpPr>
        <p:spPr>
          <a:xfrm>
            <a:off x="53850" y="581025"/>
            <a:ext cx="8934900" cy="5946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t>After freezing the model, we can start with the training:</a:t>
            </a:r>
            <a:endParaRPr sz="2200"/>
          </a:p>
        </p:txBody>
      </p:sp>
      <p:pic>
        <p:nvPicPr>
          <p:cNvPr id="231" name="Google Shape;231;p41"/>
          <p:cNvPicPr preferRelativeResize="0"/>
          <p:nvPr/>
        </p:nvPicPr>
        <p:blipFill>
          <a:blip r:embed="rId3">
            <a:alphaModFix/>
          </a:blip>
          <a:stretch>
            <a:fillRect/>
          </a:stretch>
        </p:blipFill>
        <p:spPr>
          <a:xfrm>
            <a:off x="180925" y="1099900"/>
            <a:ext cx="7916118" cy="36630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2"/>
          <p:cNvSpPr txBox="1"/>
          <p:nvPr>
            <p:ph type="title"/>
          </p:nvPr>
        </p:nvSpPr>
        <p:spPr>
          <a:xfrm>
            <a:off x="486675" y="100575"/>
            <a:ext cx="76827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Freezing Layers</a:t>
            </a:r>
            <a:endParaRPr>
              <a:highlight>
                <a:schemeClr val="lt1"/>
              </a:highlight>
            </a:endParaRPr>
          </a:p>
        </p:txBody>
      </p:sp>
      <p:sp>
        <p:nvSpPr>
          <p:cNvPr id="237" name="Google Shape;237;p42"/>
          <p:cNvSpPr txBox="1"/>
          <p:nvPr>
            <p:ph idx="1" type="body"/>
          </p:nvPr>
        </p:nvSpPr>
        <p:spPr>
          <a:xfrm>
            <a:off x="53850" y="581025"/>
            <a:ext cx="8934900" cy="5946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t>Let's evaluate the model after training of 1 epoch:</a:t>
            </a:r>
            <a:endParaRPr sz="2200"/>
          </a:p>
        </p:txBody>
      </p:sp>
      <p:pic>
        <p:nvPicPr>
          <p:cNvPr id="238" name="Google Shape;238;p42"/>
          <p:cNvPicPr preferRelativeResize="0"/>
          <p:nvPr/>
        </p:nvPicPr>
        <p:blipFill>
          <a:blip r:embed="rId3">
            <a:alphaModFix/>
          </a:blip>
          <a:stretch>
            <a:fillRect/>
          </a:stretch>
        </p:blipFill>
        <p:spPr>
          <a:xfrm>
            <a:off x="142900" y="1175625"/>
            <a:ext cx="8562975" cy="2552700"/>
          </a:xfrm>
          <a:prstGeom prst="rect">
            <a:avLst/>
          </a:prstGeom>
          <a:noFill/>
          <a:ln>
            <a:noFill/>
          </a:ln>
        </p:spPr>
      </p:pic>
      <p:sp>
        <p:nvSpPr>
          <p:cNvPr id="239" name="Google Shape;239;p42"/>
          <p:cNvSpPr txBox="1"/>
          <p:nvPr>
            <p:ph idx="1" type="body"/>
          </p:nvPr>
        </p:nvSpPr>
        <p:spPr>
          <a:xfrm>
            <a:off x="142900" y="3841625"/>
            <a:ext cx="8934900" cy="5946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t>As you can see, we get an F1 score of 0.63.</a:t>
            </a:r>
            <a:endParaRPr sz="22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3"/>
          <p:cNvSpPr txBox="1"/>
          <p:nvPr>
            <p:ph type="title"/>
          </p:nvPr>
        </p:nvSpPr>
        <p:spPr>
          <a:xfrm>
            <a:off x="486675" y="100575"/>
            <a:ext cx="76827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Freezing Layers</a:t>
            </a:r>
            <a:endParaRPr>
              <a:highlight>
                <a:schemeClr val="lt1"/>
              </a:highlight>
            </a:endParaRPr>
          </a:p>
        </p:txBody>
      </p:sp>
      <p:sp>
        <p:nvSpPr>
          <p:cNvPr id="245" name="Google Shape;245;p43"/>
          <p:cNvSpPr txBox="1"/>
          <p:nvPr>
            <p:ph idx="1" type="body"/>
          </p:nvPr>
        </p:nvSpPr>
        <p:spPr>
          <a:xfrm>
            <a:off x="104550" y="581025"/>
            <a:ext cx="3808500" cy="44535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t>So instead of freezing all layers of the model, let's freeze everything up until encoder block 10 and see how this affects performance. </a:t>
            </a:r>
            <a:endParaRPr sz="2200"/>
          </a:p>
          <a:p>
            <a:pPr indent="0" lvl="0" marL="0" rtl="0" algn="l">
              <a:spcBef>
                <a:spcPts val="1200"/>
              </a:spcBef>
              <a:spcAft>
                <a:spcPts val="0"/>
              </a:spcAft>
              <a:buNone/>
            </a:pPr>
            <a:r>
              <a:rPr lang="en-GB" sz="2200"/>
              <a:t>This is illustrated:</a:t>
            </a:r>
            <a:endParaRPr sz="2200"/>
          </a:p>
        </p:txBody>
      </p:sp>
      <p:pic>
        <p:nvPicPr>
          <p:cNvPr id="246" name="Google Shape;246;p43"/>
          <p:cNvPicPr preferRelativeResize="0"/>
          <p:nvPr/>
        </p:nvPicPr>
        <p:blipFill>
          <a:blip r:embed="rId3">
            <a:alphaModFix/>
          </a:blip>
          <a:stretch>
            <a:fillRect/>
          </a:stretch>
        </p:blipFill>
        <p:spPr>
          <a:xfrm>
            <a:off x="3963975" y="634125"/>
            <a:ext cx="4934075" cy="4029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4"/>
          <p:cNvSpPr txBox="1"/>
          <p:nvPr>
            <p:ph type="title"/>
          </p:nvPr>
        </p:nvSpPr>
        <p:spPr>
          <a:xfrm>
            <a:off x="486675" y="100575"/>
            <a:ext cx="76827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Freezing Layers</a:t>
            </a:r>
            <a:endParaRPr>
              <a:highlight>
                <a:schemeClr val="lt1"/>
              </a:highlight>
            </a:endParaRPr>
          </a:p>
        </p:txBody>
      </p:sp>
      <p:sp>
        <p:nvSpPr>
          <p:cNvPr id="252" name="Google Shape;252;p44"/>
          <p:cNvSpPr txBox="1"/>
          <p:nvPr>
            <p:ph idx="1" type="body"/>
          </p:nvPr>
        </p:nvSpPr>
        <p:spPr>
          <a:xfrm>
            <a:off x="104550" y="581025"/>
            <a:ext cx="8789100" cy="6354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t>Let's evaluate the results:</a:t>
            </a:r>
            <a:endParaRPr sz="2200"/>
          </a:p>
        </p:txBody>
      </p:sp>
      <p:pic>
        <p:nvPicPr>
          <p:cNvPr id="253" name="Google Shape;253;p44"/>
          <p:cNvPicPr preferRelativeResize="0"/>
          <p:nvPr/>
        </p:nvPicPr>
        <p:blipFill>
          <a:blip r:embed="rId3">
            <a:alphaModFix/>
          </a:blip>
          <a:stretch>
            <a:fillRect/>
          </a:stretch>
        </p:blipFill>
        <p:spPr>
          <a:xfrm>
            <a:off x="211025" y="1099240"/>
            <a:ext cx="6959599" cy="2488775"/>
          </a:xfrm>
          <a:prstGeom prst="rect">
            <a:avLst/>
          </a:prstGeom>
          <a:noFill/>
          <a:ln>
            <a:noFill/>
          </a:ln>
        </p:spPr>
      </p:pic>
      <p:sp>
        <p:nvSpPr>
          <p:cNvPr id="254" name="Google Shape;254;p44"/>
          <p:cNvSpPr txBox="1"/>
          <p:nvPr>
            <p:ph idx="1" type="body"/>
          </p:nvPr>
        </p:nvSpPr>
        <p:spPr>
          <a:xfrm>
            <a:off x="177450" y="3588025"/>
            <a:ext cx="8789100" cy="14613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highlight>
                  <a:schemeClr val="lt1"/>
                </a:highlight>
              </a:rPr>
              <a:t>The F1 score this time is 0.8, much higher than the previous 0.63 when freezing all the layers. This shows that training less is sufficient if the necessary computing power is not available.</a:t>
            </a:r>
            <a:endParaRPr sz="2200">
              <a:highlight>
                <a:schemeClr val="lt1"/>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5"/>
          <p:cNvSpPr txBox="1"/>
          <p:nvPr>
            <p:ph type="title"/>
          </p:nvPr>
        </p:nvSpPr>
        <p:spPr>
          <a:xfrm>
            <a:off x="486675" y="100575"/>
            <a:ext cx="76827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Freezing Layers</a:t>
            </a:r>
            <a:endParaRPr>
              <a:highlight>
                <a:schemeClr val="lt1"/>
              </a:highlight>
            </a:endParaRPr>
          </a:p>
        </p:txBody>
      </p:sp>
      <p:sp>
        <p:nvSpPr>
          <p:cNvPr id="260" name="Google Shape;260;p45"/>
          <p:cNvSpPr txBox="1"/>
          <p:nvPr>
            <p:ph idx="1" type="body"/>
          </p:nvPr>
        </p:nvSpPr>
        <p:spPr>
          <a:xfrm>
            <a:off x="104550" y="581025"/>
            <a:ext cx="3076500" cy="4045500"/>
          </a:xfrm>
          <a:prstGeom prst="rect">
            <a:avLst/>
          </a:prstGeom>
          <a:noFill/>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GB" sz="2200"/>
              <a:t>Training only the </a:t>
            </a:r>
            <a:r>
              <a:rPr b="1" lang="en-GB" sz="2200"/>
              <a:t>first five encoder blocks is enough</a:t>
            </a:r>
            <a:r>
              <a:rPr lang="en-GB" sz="2200"/>
              <a:t> to almost reach the performance when all encoder blocks are trained.</a:t>
            </a:r>
            <a:endParaRPr sz="2200"/>
          </a:p>
          <a:p>
            <a:pPr indent="0" lvl="0" marL="0" rtl="0" algn="l">
              <a:spcBef>
                <a:spcPts val="1200"/>
              </a:spcBef>
              <a:spcAft>
                <a:spcPts val="0"/>
              </a:spcAft>
              <a:buNone/>
            </a:pPr>
            <a:r>
              <a:rPr lang="en-GB" sz="2200"/>
              <a:t>See the diagram for reference.</a:t>
            </a:r>
            <a:endParaRPr sz="2200"/>
          </a:p>
        </p:txBody>
      </p:sp>
      <p:pic>
        <p:nvPicPr>
          <p:cNvPr id="261" name="Google Shape;261;p45"/>
          <p:cNvPicPr preferRelativeResize="0"/>
          <p:nvPr/>
        </p:nvPicPr>
        <p:blipFill>
          <a:blip r:embed="rId3">
            <a:alphaModFix/>
          </a:blip>
          <a:stretch>
            <a:fillRect/>
          </a:stretch>
        </p:blipFill>
        <p:spPr>
          <a:xfrm>
            <a:off x="3241450" y="646804"/>
            <a:ext cx="5756750" cy="404559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6"/>
          <p:cNvSpPr txBox="1"/>
          <p:nvPr>
            <p:ph type="title"/>
          </p:nvPr>
        </p:nvSpPr>
        <p:spPr>
          <a:xfrm>
            <a:off x="104550" y="100575"/>
            <a:ext cx="8998200" cy="1131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SetFit: Efficient Fine-Tuning with Few Training Examples</a:t>
            </a:r>
            <a:endParaRPr>
              <a:highlight>
                <a:schemeClr val="lt1"/>
              </a:highlight>
            </a:endParaRPr>
          </a:p>
        </p:txBody>
      </p:sp>
      <p:sp>
        <p:nvSpPr>
          <p:cNvPr id="267" name="Google Shape;267;p46"/>
          <p:cNvSpPr txBox="1"/>
          <p:nvPr>
            <p:ph idx="1" type="body"/>
          </p:nvPr>
        </p:nvSpPr>
        <p:spPr>
          <a:xfrm>
            <a:off x="104550" y="1061425"/>
            <a:ext cx="8998200" cy="41253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00000"/>
              </a:lnSpc>
              <a:spcBef>
                <a:spcPts val="1200"/>
              </a:spcBef>
              <a:spcAft>
                <a:spcPts val="0"/>
              </a:spcAft>
              <a:buNone/>
            </a:pPr>
            <a:r>
              <a:rPr b="1" lang="en-GB" sz="2200"/>
              <a:t>SetFit</a:t>
            </a:r>
            <a:r>
              <a:rPr lang="en-GB" sz="2200"/>
              <a:t> is built on top of the </a:t>
            </a:r>
            <a:r>
              <a:rPr lang="en-GB" sz="2200">
                <a:solidFill>
                  <a:srgbClr val="188038"/>
                </a:solidFill>
                <a:latin typeface="Roboto Mono"/>
                <a:ea typeface="Roboto Mono"/>
                <a:cs typeface="Roboto Mono"/>
                <a:sym typeface="Roboto Mono"/>
              </a:rPr>
              <a:t>sentence-transformers</a:t>
            </a:r>
            <a:r>
              <a:rPr lang="en-GB" sz="2200"/>
              <a:t> architecture to generate high quality textual representations that are updated during training. The algorithm of SetFit consists of </a:t>
            </a:r>
            <a:r>
              <a:rPr b="1" lang="en-GB" sz="2200"/>
              <a:t>3 steps:</a:t>
            </a:r>
            <a:endParaRPr b="1" sz="2200"/>
          </a:p>
          <a:p>
            <a:pPr indent="0" lvl="0" marL="0" rtl="0" algn="l">
              <a:lnSpc>
                <a:spcPct val="100000"/>
              </a:lnSpc>
              <a:spcBef>
                <a:spcPts val="1200"/>
              </a:spcBef>
              <a:spcAft>
                <a:spcPts val="0"/>
              </a:spcAft>
              <a:buNone/>
            </a:pPr>
            <a:r>
              <a:rPr b="1" lang="en-GB" sz="2200"/>
              <a:t>1. Sampling training data</a:t>
            </a:r>
            <a:endParaRPr b="1" sz="2200"/>
          </a:p>
          <a:p>
            <a:pPr indent="0" lvl="0" marL="0" rtl="0" algn="l">
              <a:lnSpc>
                <a:spcPct val="100000"/>
              </a:lnSpc>
              <a:spcBef>
                <a:spcPts val="1200"/>
              </a:spcBef>
              <a:spcAft>
                <a:spcPts val="0"/>
              </a:spcAft>
              <a:buNone/>
            </a:pPr>
            <a:r>
              <a:rPr lang="en-GB" sz="2200"/>
              <a:t>Based on in-class and out-class selection of labeled data it generates positive (similar) and negative (dissimilar) pairs of sentences</a:t>
            </a:r>
            <a:endParaRPr sz="2200"/>
          </a:p>
          <a:p>
            <a:pPr indent="0" lvl="0" marL="0" rtl="0" algn="l">
              <a:lnSpc>
                <a:spcPct val="100000"/>
              </a:lnSpc>
              <a:spcBef>
                <a:spcPts val="1200"/>
              </a:spcBef>
              <a:spcAft>
                <a:spcPts val="0"/>
              </a:spcAft>
              <a:buNone/>
            </a:pPr>
            <a:r>
              <a:rPr b="1" lang="en-GB" sz="2200"/>
              <a:t>2. Fine-tuning embeddings</a:t>
            </a:r>
            <a:endParaRPr b="1" sz="2200"/>
          </a:p>
          <a:p>
            <a:pPr indent="0" lvl="0" marL="0" rtl="0" algn="l">
              <a:lnSpc>
                <a:spcPct val="100000"/>
              </a:lnSpc>
              <a:spcBef>
                <a:spcPts val="1200"/>
              </a:spcBef>
              <a:spcAft>
                <a:spcPts val="0"/>
              </a:spcAft>
              <a:buNone/>
            </a:pPr>
            <a:r>
              <a:rPr lang="en-GB" sz="2200"/>
              <a:t>Fine-tuning a pretrained embedding model based on previously generated training data</a:t>
            </a:r>
            <a:endParaRPr sz="2200"/>
          </a:p>
          <a:p>
            <a:pPr indent="0" lvl="0" marL="0" rtl="0" algn="l">
              <a:lnSpc>
                <a:spcPct val="100000"/>
              </a:lnSpc>
              <a:spcBef>
                <a:spcPts val="1200"/>
              </a:spcBef>
              <a:spcAft>
                <a:spcPts val="0"/>
              </a:spcAft>
              <a:buNone/>
            </a:pPr>
            <a:r>
              <a:rPr b="1" lang="en-GB" sz="2200"/>
              <a:t>3. Training a classifier</a:t>
            </a:r>
            <a:endParaRPr b="1" sz="2200"/>
          </a:p>
          <a:p>
            <a:pPr indent="0" lvl="0" marL="0" rtl="0" algn="l">
              <a:lnSpc>
                <a:spcPct val="100000"/>
              </a:lnSpc>
              <a:spcBef>
                <a:spcPts val="1200"/>
              </a:spcBef>
              <a:spcAft>
                <a:spcPts val="0"/>
              </a:spcAft>
              <a:buNone/>
            </a:pPr>
            <a:r>
              <a:rPr lang="en-GB" sz="2200">
                <a:highlight>
                  <a:schemeClr val="lt1"/>
                </a:highlight>
              </a:rPr>
              <a:t>Create a classification head on top of the embedding model and train it using the previously generated training data</a:t>
            </a:r>
            <a:endParaRPr sz="2200">
              <a:highlight>
                <a:schemeClr val="lt1"/>
              </a:high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7"/>
          <p:cNvSpPr txBox="1"/>
          <p:nvPr>
            <p:ph type="title"/>
          </p:nvPr>
        </p:nvSpPr>
        <p:spPr>
          <a:xfrm>
            <a:off x="104550" y="100575"/>
            <a:ext cx="8998200" cy="1131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SetFit: Efficient Fine-Tuning with Few Training Examples</a:t>
            </a:r>
            <a:endParaRPr>
              <a:highlight>
                <a:schemeClr val="lt1"/>
              </a:highlight>
            </a:endParaRPr>
          </a:p>
        </p:txBody>
      </p:sp>
      <p:sp>
        <p:nvSpPr>
          <p:cNvPr id="273" name="Google Shape;273;p47"/>
          <p:cNvSpPr txBox="1"/>
          <p:nvPr>
            <p:ph idx="1" type="body"/>
          </p:nvPr>
        </p:nvSpPr>
        <p:spPr>
          <a:xfrm>
            <a:off x="104550" y="1061425"/>
            <a:ext cx="3760800" cy="4125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Before fine-tuning an embedding model, we need to generate training data. </a:t>
            </a:r>
            <a:endParaRPr sz="2200"/>
          </a:p>
          <a:p>
            <a:pPr indent="0" lvl="0" marL="0" rtl="0" algn="l">
              <a:lnSpc>
                <a:spcPct val="100000"/>
              </a:lnSpc>
              <a:spcBef>
                <a:spcPts val="1200"/>
              </a:spcBef>
              <a:spcAft>
                <a:spcPts val="0"/>
              </a:spcAft>
              <a:buNone/>
            </a:pPr>
            <a:r>
              <a:rPr lang="en-GB" sz="2200"/>
              <a:t>The model assumes the training data to be samples of positive (similar) and negative (dissimilar) pairs of sentences. </a:t>
            </a:r>
            <a:endParaRPr sz="2200"/>
          </a:p>
          <a:p>
            <a:pPr indent="0" lvl="0" marL="0" rtl="0" algn="l">
              <a:lnSpc>
                <a:spcPct val="100000"/>
              </a:lnSpc>
              <a:spcBef>
                <a:spcPts val="1200"/>
              </a:spcBef>
              <a:spcAft>
                <a:spcPts val="0"/>
              </a:spcAft>
              <a:buNone/>
            </a:pPr>
            <a:r>
              <a:rPr lang="en-GB" sz="2200">
                <a:highlight>
                  <a:schemeClr val="lt1"/>
                </a:highlight>
              </a:rPr>
              <a:t>But the input data we have is generally not labeled as such.</a:t>
            </a:r>
            <a:endParaRPr sz="2200">
              <a:highlight>
                <a:schemeClr val="lt1"/>
              </a:highlight>
            </a:endParaRPr>
          </a:p>
        </p:txBody>
      </p:sp>
      <p:pic>
        <p:nvPicPr>
          <p:cNvPr id="274" name="Google Shape;274;p47"/>
          <p:cNvPicPr preferRelativeResize="0"/>
          <p:nvPr/>
        </p:nvPicPr>
        <p:blipFill>
          <a:blip r:embed="rId3">
            <a:alphaModFix/>
          </a:blip>
          <a:stretch>
            <a:fillRect/>
          </a:stretch>
        </p:blipFill>
        <p:spPr>
          <a:xfrm>
            <a:off x="4017750" y="1384875"/>
            <a:ext cx="4973849" cy="236055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8"/>
          <p:cNvSpPr txBox="1"/>
          <p:nvPr>
            <p:ph type="title"/>
          </p:nvPr>
        </p:nvSpPr>
        <p:spPr>
          <a:xfrm>
            <a:off x="104550" y="100575"/>
            <a:ext cx="8998200" cy="1131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SetFit: Efficient Fine-Tuning with Few Training Examples</a:t>
            </a:r>
            <a:endParaRPr>
              <a:highlight>
                <a:schemeClr val="lt1"/>
              </a:highlight>
            </a:endParaRPr>
          </a:p>
        </p:txBody>
      </p:sp>
      <p:sp>
        <p:nvSpPr>
          <p:cNvPr id="280" name="Google Shape;280;p48"/>
          <p:cNvSpPr txBox="1"/>
          <p:nvPr>
            <p:ph idx="1" type="body"/>
          </p:nvPr>
        </p:nvSpPr>
        <p:spPr>
          <a:xfrm>
            <a:off x="104550" y="1061425"/>
            <a:ext cx="3960600" cy="41253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00000"/>
              </a:lnSpc>
              <a:spcBef>
                <a:spcPts val="1200"/>
              </a:spcBef>
              <a:spcAft>
                <a:spcPts val="0"/>
              </a:spcAft>
              <a:buNone/>
            </a:pPr>
            <a:r>
              <a:rPr lang="en-GB" sz="2200"/>
              <a:t>In </a:t>
            </a:r>
            <a:r>
              <a:rPr b="1" lang="en-GB" sz="2200"/>
              <a:t>step 1</a:t>
            </a:r>
            <a:r>
              <a:rPr lang="en-GB" sz="2200"/>
              <a:t>, SetFit handles this by pairing all sentences of one class with those of the other.</a:t>
            </a:r>
            <a:endParaRPr sz="2200"/>
          </a:p>
          <a:p>
            <a:pPr indent="0" lvl="0" marL="0" rtl="0" algn="l">
              <a:lnSpc>
                <a:spcPct val="100000"/>
              </a:lnSpc>
              <a:spcBef>
                <a:spcPts val="1200"/>
              </a:spcBef>
              <a:spcAft>
                <a:spcPts val="0"/>
              </a:spcAft>
              <a:buNone/>
            </a:pPr>
            <a:r>
              <a:rPr lang="en-GB" sz="2200"/>
              <a:t>So imagine you have </a:t>
            </a:r>
            <a:r>
              <a:rPr b="1" lang="en-GB" sz="2200"/>
              <a:t>16</a:t>
            </a:r>
            <a:r>
              <a:rPr lang="en-GB" sz="2200"/>
              <a:t> sentences about sports, we can create </a:t>
            </a:r>
            <a:r>
              <a:rPr b="1" lang="en-GB" sz="2200"/>
              <a:t>16*(16-1) / 2 = 120</a:t>
            </a:r>
            <a:r>
              <a:rPr lang="en-GB" sz="2200"/>
              <a:t> pairs that we label as positive pairs.</a:t>
            </a:r>
            <a:endParaRPr sz="2200"/>
          </a:p>
          <a:p>
            <a:pPr indent="0" lvl="0" marL="0" rtl="0" algn="l">
              <a:lnSpc>
                <a:spcPct val="100000"/>
              </a:lnSpc>
              <a:spcBef>
                <a:spcPts val="1200"/>
              </a:spcBef>
              <a:spcAft>
                <a:spcPts val="0"/>
              </a:spcAft>
              <a:buNone/>
            </a:pPr>
            <a:r>
              <a:rPr lang="en-GB" sz="2200"/>
              <a:t>Same process is used for generating negative (dissimilar) pairs.</a:t>
            </a:r>
            <a:endParaRPr sz="2200"/>
          </a:p>
          <a:p>
            <a:pPr indent="0" lvl="0" marL="0" rtl="0" algn="l">
              <a:lnSpc>
                <a:spcPct val="100000"/>
              </a:lnSpc>
              <a:spcBef>
                <a:spcPts val="1200"/>
              </a:spcBef>
              <a:spcAft>
                <a:spcPts val="0"/>
              </a:spcAft>
              <a:buNone/>
            </a:pPr>
            <a:r>
              <a:t/>
            </a:r>
            <a:endParaRPr sz="2200"/>
          </a:p>
        </p:txBody>
      </p:sp>
      <p:pic>
        <p:nvPicPr>
          <p:cNvPr id="281" name="Google Shape;281;p48"/>
          <p:cNvPicPr preferRelativeResize="0"/>
          <p:nvPr/>
        </p:nvPicPr>
        <p:blipFill>
          <a:blip r:embed="rId3">
            <a:alphaModFix/>
          </a:blip>
          <a:stretch>
            <a:fillRect/>
          </a:stretch>
        </p:blipFill>
        <p:spPr>
          <a:xfrm>
            <a:off x="4065150" y="1146725"/>
            <a:ext cx="5038924" cy="18537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9"/>
          <p:cNvSpPr txBox="1"/>
          <p:nvPr>
            <p:ph type="title"/>
          </p:nvPr>
        </p:nvSpPr>
        <p:spPr>
          <a:xfrm>
            <a:off x="104550" y="100575"/>
            <a:ext cx="8998200" cy="1131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SetFit: Efficient Fine-Tuning with Few Training Examples</a:t>
            </a:r>
            <a:endParaRPr>
              <a:highlight>
                <a:schemeClr val="lt1"/>
              </a:highlight>
            </a:endParaRPr>
          </a:p>
        </p:txBody>
      </p:sp>
      <p:sp>
        <p:nvSpPr>
          <p:cNvPr id="287" name="Google Shape;287;p49"/>
          <p:cNvSpPr txBox="1"/>
          <p:nvPr>
            <p:ph idx="1" type="body"/>
          </p:nvPr>
        </p:nvSpPr>
        <p:spPr>
          <a:xfrm>
            <a:off x="53875" y="1108950"/>
            <a:ext cx="4087200" cy="4125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In </a:t>
            </a:r>
            <a:r>
              <a:rPr b="1" lang="en-GB" sz="2200"/>
              <a:t>step 3,</a:t>
            </a:r>
            <a:r>
              <a:rPr lang="en-GB" sz="2200"/>
              <a:t> we generate embeddings for all sentences and use those as the input of a classifier.</a:t>
            </a:r>
            <a:endParaRPr sz="2200"/>
          </a:p>
          <a:p>
            <a:pPr indent="0" lvl="0" marL="0" rtl="0" algn="l">
              <a:lnSpc>
                <a:spcPct val="100000"/>
              </a:lnSpc>
              <a:spcBef>
                <a:spcPts val="1200"/>
              </a:spcBef>
              <a:spcAft>
                <a:spcPts val="0"/>
              </a:spcAft>
              <a:buNone/>
            </a:pPr>
            <a:r>
              <a:rPr lang="en-GB" sz="2200"/>
              <a:t>We use the </a:t>
            </a:r>
            <a:r>
              <a:rPr lang="en-GB" sz="2200">
                <a:solidFill>
                  <a:srgbClr val="188038"/>
                </a:solidFill>
                <a:latin typeface="Roboto Mono"/>
                <a:ea typeface="Roboto Mono"/>
                <a:cs typeface="Roboto Mono"/>
                <a:sym typeface="Roboto Mono"/>
              </a:rPr>
              <a:t>sentence-transformers</a:t>
            </a:r>
            <a:r>
              <a:rPr lang="en-GB" sz="2200"/>
              <a:t> model we finetuned to convert the sentences into embeddings</a:t>
            </a:r>
            <a:endParaRPr sz="2200"/>
          </a:p>
          <a:p>
            <a:pPr indent="0" lvl="0" marL="0" rtl="0" algn="l">
              <a:lnSpc>
                <a:spcPct val="100000"/>
              </a:lnSpc>
              <a:spcBef>
                <a:spcPts val="1200"/>
              </a:spcBef>
              <a:spcAft>
                <a:spcPts val="0"/>
              </a:spcAft>
              <a:buNone/>
            </a:pPr>
            <a:r>
              <a:t/>
            </a:r>
            <a:endParaRPr sz="2200"/>
          </a:p>
        </p:txBody>
      </p:sp>
      <p:pic>
        <p:nvPicPr>
          <p:cNvPr id="288" name="Google Shape;288;p49"/>
          <p:cNvPicPr preferRelativeResize="0"/>
          <p:nvPr/>
        </p:nvPicPr>
        <p:blipFill>
          <a:blip r:embed="rId3">
            <a:alphaModFix/>
          </a:blip>
          <a:stretch>
            <a:fillRect/>
          </a:stretch>
        </p:blipFill>
        <p:spPr>
          <a:xfrm>
            <a:off x="4398050" y="795525"/>
            <a:ext cx="4182000" cy="394142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0"/>
          <p:cNvSpPr txBox="1"/>
          <p:nvPr>
            <p:ph type="title"/>
          </p:nvPr>
        </p:nvSpPr>
        <p:spPr>
          <a:xfrm>
            <a:off x="104550" y="100575"/>
            <a:ext cx="8998200" cy="1131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SetFit: Efficient Fine-Tuning with Few Training Examples</a:t>
            </a:r>
            <a:endParaRPr>
              <a:highlight>
                <a:schemeClr val="lt1"/>
              </a:highlight>
            </a:endParaRPr>
          </a:p>
        </p:txBody>
      </p:sp>
      <p:sp>
        <p:nvSpPr>
          <p:cNvPr id="294" name="Google Shape;294;p50"/>
          <p:cNvSpPr txBox="1"/>
          <p:nvPr>
            <p:ph idx="1" type="body"/>
          </p:nvPr>
        </p:nvSpPr>
        <p:spPr>
          <a:xfrm>
            <a:off x="53875" y="1108950"/>
            <a:ext cx="8953800" cy="4125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The three main steps of SetFit is illustrated in the diagram:</a:t>
            </a:r>
            <a:endParaRPr sz="2200"/>
          </a:p>
          <a:p>
            <a:pPr indent="0" lvl="0" marL="0" rtl="0" algn="l">
              <a:lnSpc>
                <a:spcPct val="100000"/>
              </a:lnSpc>
              <a:spcBef>
                <a:spcPts val="1200"/>
              </a:spcBef>
              <a:spcAft>
                <a:spcPts val="0"/>
              </a:spcAft>
              <a:buNone/>
            </a:pPr>
            <a:r>
              <a:t/>
            </a:r>
            <a:endParaRPr sz="2200"/>
          </a:p>
        </p:txBody>
      </p:sp>
      <p:pic>
        <p:nvPicPr>
          <p:cNvPr id="295" name="Google Shape;295;p50"/>
          <p:cNvPicPr preferRelativeResize="0"/>
          <p:nvPr/>
        </p:nvPicPr>
        <p:blipFill>
          <a:blip r:embed="rId3">
            <a:alphaModFix/>
          </a:blip>
          <a:stretch>
            <a:fillRect/>
          </a:stretch>
        </p:blipFill>
        <p:spPr>
          <a:xfrm>
            <a:off x="1508722" y="1588300"/>
            <a:ext cx="6044101" cy="32846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1"/>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Fine-Tuning for Few-Shot Classification</a:t>
            </a:r>
            <a:endParaRPr>
              <a:highlight>
                <a:schemeClr val="lt1"/>
              </a:highlight>
            </a:endParaRPr>
          </a:p>
        </p:txBody>
      </p:sp>
      <p:sp>
        <p:nvSpPr>
          <p:cNvPr id="301" name="Google Shape;301;p51"/>
          <p:cNvSpPr txBox="1"/>
          <p:nvPr>
            <p:ph idx="1" type="body"/>
          </p:nvPr>
        </p:nvSpPr>
        <p:spPr>
          <a:xfrm>
            <a:off x="53875" y="709725"/>
            <a:ext cx="8953800" cy="4524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Since this is few-shot, we only use 16 examples per class (32 in total) of the 8,500 movie reviews</a:t>
            </a:r>
            <a:endParaRPr sz="2200"/>
          </a:p>
          <a:p>
            <a:pPr indent="0" lvl="0" marL="0" rtl="0" algn="l">
              <a:lnSpc>
                <a:spcPct val="100000"/>
              </a:lnSpc>
              <a:spcBef>
                <a:spcPts val="1200"/>
              </a:spcBef>
              <a:spcAft>
                <a:spcPts val="0"/>
              </a:spcAft>
              <a:buNone/>
            </a:pPr>
            <a:r>
              <a:t/>
            </a:r>
            <a:endParaRPr sz="2200"/>
          </a:p>
        </p:txBody>
      </p:sp>
      <p:pic>
        <p:nvPicPr>
          <p:cNvPr id="302" name="Google Shape;302;p51"/>
          <p:cNvPicPr preferRelativeResize="0"/>
          <p:nvPr/>
        </p:nvPicPr>
        <p:blipFill>
          <a:blip r:embed="rId3">
            <a:alphaModFix/>
          </a:blip>
          <a:stretch>
            <a:fillRect/>
          </a:stretch>
        </p:blipFill>
        <p:spPr>
          <a:xfrm>
            <a:off x="-41225" y="1476140"/>
            <a:ext cx="9144000" cy="173497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2"/>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Fine-Tuning for Few-Shot Classification</a:t>
            </a:r>
            <a:endParaRPr>
              <a:highlight>
                <a:schemeClr val="lt1"/>
              </a:highlight>
            </a:endParaRPr>
          </a:p>
        </p:txBody>
      </p:sp>
      <p:sp>
        <p:nvSpPr>
          <p:cNvPr id="308" name="Google Shape;308;p52"/>
          <p:cNvSpPr txBox="1"/>
          <p:nvPr>
            <p:ph idx="1" type="body"/>
          </p:nvPr>
        </p:nvSpPr>
        <p:spPr>
          <a:xfrm>
            <a:off x="53875" y="709725"/>
            <a:ext cx="3388200" cy="4524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After loading the pretrained </a:t>
            </a:r>
            <a:r>
              <a:rPr lang="en-GB" sz="2200">
                <a:solidFill>
                  <a:srgbClr val="188038"/>
                </a:solidFill>
                <a:latin typeface="Roboto Mono"/>
                <a:ea typeface="Roboto Mono"/>
                <a:cs typeface="Roboto Mono"/>
                <a:sym typeface="Roboto Mono"/>
              </a:rPr>
              <a:t>SentenceTransformer</a:t>
            </a:r>
            <a:r>
              <a:rPr lang="en-GB" sz="2200"/>
              <a:t> model, we define the </a:t>
            </a:r>
            <a:r>
              <a:rPr lang="en-GB" sz="2200">
                <a:solidFill>
                  <a:srgbClr val="188038"/>
                </a:solidFill>
                <a:latin typeface="Roboto Mono"/>
                <a:ea typeface="Roboto Mono"/>
                <a:cs typeface="Roboto Mono"/>
                <a:sym typeface="Roboto Mono"/>
              </a:rPr>
              <a:t>SetFitTrainer</a:t>
            </a:r>
            <a:endParaRPr sz="2200"/>
          </a:p>
          <a:p>
            <a:pPr indent="0" lvl="0" marL="0" rtl="0" algn="l">
              <a:lnSpc>
                <a:spcPct val="100000"/>
              </a:lnSpc>
              <a:spcBef>
                <a:spcPts val="1200"/>
              </a:spcBef>
              <a:spcAft>
                <a:spcPts val="0"/>
              </a:spcAft>
              <a:buNone/>
            </a:pPr>
            <a:r>
              <a:t/>
            </a:r>
            <a:endParaRPr sz="2200"/>
          </a:p>
          <a:p>
            <a:pPr indent="0" lvl="0" marL="0" rtl="0" algn="l">
              <a:lnSpc>
                <a:spcPct val="100000"/>
              </a:lnSpc>
              <a:spcBef>
                <a:spcPts val="1200"/>
              </a:spcBef>
              <a:spcAft>
                <a:spcPts val="0"/>
              </a:spcAft>
              <a:buNone/>
            </a:pPr>
            <a:r>
              <a:t/>
            </a:r>
            <a:endParaRPr sz="2200"/>
          </a:p>
        </p:txBody>
      </p:sp>
      <p:pic>
        <p:nvPicPr>
          <p:cNvPr id="309" name="Google Shape;309;p52"/>
          <p:cNvPicPr preferRelativeResize="0"/>
          <p:nvPr/>
        </p:nvPicPr>
        <p:blipFill>
          <a:blip r:embed="rId3">
            <a:alphaModFix/>
          </a:blip>
          <a:stretch>
            <a:fillRect/>
          </a:stretch>
        </p:blipFill>
        <p:spPr>
          <a:xfrm>
            <a:off x="3441949" y="814275"/>
            <a:ext cx="5527725" cy="2304362"/>
          </a:xfrm>
          <a:prstGeom prst="rect">
            <a:avLst/>
          </a:prstGeom>
          <a:noFill/>
          <a:ln>
            <a:noFill/>
          </a:ln>
        </p:spPr>
      </p:pic>
      <p:pic>
        <p:nvPicPr>
          <p:cNvPr id="310" name="Google Shape;310;p52"/>
          <p:cNvPicPr preferRelativeResize="0"/>
          <p:nvPr/>
        </p:nvPicPr>
        <p:blipFill>
          <a:blip r:embed="rId4">
            <a:alphaModFix/>
          </a:blip>
          <a:stretch>
            <a:fillRect/>
          </a:stretch>
        </p:blipFill>
        <p:spPr>
          <a:xfrm>
            <a:off x="3441949" y="3153034"/>
            <a:ext cx="5527725" cy="103559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3"/>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Fine-Tuning for Few-Shot Classification</a:t>
            </a:r>
            <a:endParaRPr>
              <a:highlight>
                <a:schemeClr val="lt1"/>
              </a:highlight>
            </a:endParaRPr>
          </a:p>
        </p:txBody>
      </p:sp>
      <p:sp>
        <p:nvSpPr>
          <p:cNvPr id="316" name="Google Shape;316;p53"/>
          <p:cNvSpPr txBox="1"/>
          <p:nvPr>
            <p:ph idx="1" type="body"/>
          </p:nvPr>
        </p:nvSpPr>
        <p:spPr>
          <a:xfrm>
            <a:off x="0" y="681200"/>
            <a:ext cx="8877900" cy="941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We only need to call </a:t>
            </a:r>
            <a:r>
              <a:rPr lang="en-GB" sz="2200">
                <a:solidFill>
                  <a:srgbClr val="188038"/>
                </a:solidFill>
                <a:latin typeface="Roboto Mono"/>
                <a:ea typeface="Roboto Mono"/>
                <a:cs typeface="Roboto Mono"/>
                <a:sym typeface="Roboto Mono"/>
              </a:rPr>
              <a:t>train</a:t>
            </a:r>
            <a:r>
              <a:rPr lang="en-GB" sz="2200"/>
              <a:t> to start the training loop. When we do, we should get the following output:</a:t>
            </a:r>
            <a:endParaRPr sz="2200"/>
          </a:p>
        </p:txBody>
      </p:sp>
      <p:pic>
        <p:nvPicPr>
          <p:cNvPr id="317" name="Google Shape;317;p53"/>
          <p:cNvPicPr preferRelativeResize="0"/>
          <p:nvPr/>
        </p:nvPicPr>
        <p:blipFill>
          <a:blip r:embed="rId3">
            <a:alphaModFix/>
          </a:blip>
          <a:stretch>
            <a:fillRect/>
          </a:stretch>
        </p:blipFill>
        <p:spPr>
          <a:xfrm>
            <a:off x="765075" y="1552575"/>
            <a:ext cx="7677150" cy="2038350"/>
          </a:xfrm>
          <a:prstGeom prst="rect">
            <a:avLst/>
          </a:prstGeom>
          <a:noFill/>
          <a:ln>
            <a:noFill/>
          </a:ln>
        </p:spPr>
      </p:pic>
      <p:sp>
        <p:nvSpPr>
          <p:cNvPr id="318" name="Google Shape;318;p53"/>
          <p:cNvSpPr txBox="1"/>
          <p:nvPr>
            <p:ph idx="1" type="body"/>
          </p:nvPr>
        </p:nvSpPr>
        <p:spPr>
          <a:xfrm>
            <a:off x="133050" y="3656650"/>
            <a:ext cx="8877900" cy="1577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00000"/>
              </a:lnSpc>
              <a:spcBef>
                <a:spcPts val="1200"/>
              </a:spcBef>
              <a:spcAft>
                <a:spcPts val="0"/>
              </a:spcAft>
              <a:buNone/>
            </a:pPr>
            <a:r>
              <a:rPr lang="en-GB" sz="2200"/>
              <a:t>Notice that the number of unique pairs in the output is 1,280. This is because, by default, 20 sentence pair combinations are generated for each sample in data. </a:t>
            </a:r>
            <a:endParaRPr sz="2200"/>
          </a:p>
          <a:p>
            <a:pPr indent="0" lvl="0" marL="0" rtl="0" algn="l">
              <a:lnSpc>
                <a:spcPct val="100000"/>
              </a:lnSpc>
              <a:spcBef>
                <a:spcPts val="1200"/>
              </a:spcBef>
              <a:spcAft>
                <a:spcPts val="0"/>
              </a:spcAft>
              <a:buNone/>
            </a:pPr>
            <a:r>
              <a:rPr lang="en-GB" sz="2200"/>
              <a:t> </a:t>
            </a:r>
            <a:r>
              <a:rPr b="1" lang="en-GB" sz="2200"/>
              <a:t>So 20 * 32 = 680 multiplied by 2 (for negative and positive pairs).</a:t>
            </a:r>
            <a:endParaRPr b="1" sz="22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4"/>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Fine-Tuning for Few-Shot Classification</a:t>
            </a:r>
            <a:endParaRPr>
              <a:highlight>
                <a:schemeClr val="lt1"/>
              </a:highlight>
            </a:endParaRPr>
          </a:p>
        </p:txBody>
      </p:sp>
      <p:sp>
        <p:nvSpPr>
          <p:cNvPr id="324" name="Google Shape;324;p54"/>
          <p:cNvSpPr txBox="1"/>
          <p:nvPr>
            <p:ph idx="1" type="body"/>
          </p:nvPr>
        </p:nvSpPr>
        <p:spPr>
          <a:xfrm>
            <a:off x="0" y="681200"/>
            <a:ext cx="8877900" cy="941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Let's now evaluate the model:</a:t>
            </a:r>
            <a:endParaRPr sz="2200"/>
          </a:p>
        </p:txBody>
      </p:sp>
      <p:pic>
        <p:nvPicPr>
          <p:cNvPr id="325" name="Google Shape;325;p54"/>
          <p:cNvPicPr preferRelativeResize="0"/>
          <p:nvPr/>
        </p:nvPicPr>
        <p:blipFill>
          <a:blip r:embed="rId3">
            <a:alphaModFix/>
          </a:blip>
          <a:stretch>
            <a:fillRect/>
          </a:stretch>
        </p:blipFill>
        <p:spPr>
          <a:xfrm>
            <a:off x="342500" y="1746200"/>
            <a:ext cx="7677150" cy="1181100"/>
          </a:xfrm>
          <a:prstGeom prst="rect">
            <a:avLst/>
          </a:prstGeom>
          <a:noFill/>
          <a:ln>
            <a:noFill/>
          </a:ln>
        </p:spPr>
      </p:pic>
      <p:sp>
        <p:nvSpPr>
          <p:cNvPr id="326" name="Google Shape;326;p54"/>
          <p:cNvSpPr txBox="1"/>
          <p:nvPr>
            <p:ph idx="1" type="body"/>
          </p:nvPr>
        </p:nvSpPr>
        <p:spPr>
          <a:xfrm>
            <a:off x="47850" y="3561600"/>
            <a:ext cx="8877900" cy="941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00000"/>
              </a:lnSpc>
              <a:spcBef>
                <a:spcPts val="1200"/>
              </a:spcBef>
              <a:spcAft>
                <a:spcPts val="0"/>
              </a:spcAft>
              <a:buNone/>
            </a:pPr>
            <a:r>
              <a:rPr lang="en-GB" sz="2200"/>
              <a:t>We get an F1 score of 0.85. </a:t>
            </a:r>
            <a:endParaRPr sz="2200"/>
          </a:p>
          <a:p>
            <a:pPr indent="0" lvl="0" marL="0" rtl="0" algn="l">
              <a:lnSpc>
                <a:spcPct val="100000"/>
              </a:lnSpc>
              <a:spcBef>
                <a:spcPts val="1200"/>
              </a:spcBef>
              <a:spcAft>
                <a:spcPts val="0"/>
              </a:spcAft>
              <a:buNone/>
            </a:pPr>
            <a:r>
              <a:rPr lang="en-GB" sz="2200"/>
              <a:t>This is impressive for a model trained on only 32 labeled documents.</a:t>
            </a:r>
            <a:endParaRPr sz="22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5"/>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Continued Pretraining with Masked Language</a:t>
            </a:r>
            <a:endParaRPr>
              <a:highlight>
                <a:schemeClr val="lt1"/>
              </a:highlight>
            </a:endParaRPr>
          </a:p>
        </p:txBody>
      </p:sp>
      <p:sp>
        <p:nvSpPr>
          <p:cNvPr id="332" name="Google Shape;332;p55"/>
          <p:cNvSpPr txBox="1"/>
          <p:nvPr>
            <p:ph idx="1" type="body"/>
          </p:nvPr>
        </p:nvSpPr>
        <p:spPr>
          <a:xfrm>
            <a:off x="0" y="681200"/>
            <a:ext cx="3380700" cy="423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So far, we have used a pretrained model and finetuned it.</a:t>
            </a:r>
            <a:endParaRPr sz="2200"/>
          </a:p>
        </p:txBody>
      </p:sp>
      <p:pic>
        <p:nvPicPr>
          <p:cNvPr id="333" name="Google Shape;333;p55"/>
          <p:cNvPicPr preferRelativeResize="0"/>
          <p:nvPr/>
        </p:nvPicPr>
        <p:blipFill>
          <a:blip r:embed="rId3">
            <a:alphaModFix/>
          </a:blip>
          <a:stretch>
            <a:fillRect/>
          </a:stretch>
        </p:blipFill>
        <p:spPr>
          <a:xfrm>
            <a:off x="3608800" y="767950"/>
            <a:ext cx="5339975" cy="40658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6"/>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Continued Pretraining with Masked Language</a:t>
            </a:r>
            <a:endParaRPr>
              <a:highlight>
                <a:schemeClr val="lt1"/>
              </a:highlight>
            </a:endParaRPr>
          </a:p>
        </p:txBody>
      </p:sp>
      <p:sp>
        <p:nvSpPr>
          <p:cNvPr id="339" name="Google Shape;339;p56"/>
          <p:cNvSpPr txBox="1"/>
          <p:nvPr>
            <p:ph idx="1" type="body"/>
          </p:nvPr>
        </p:nvSpPr>
        <p:spPr>
          <a:xfrm>
            <a:off x="0" y="681200"/>
            <a:ext cx="8998200" cy="423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This is a two-step process:</a:t>
            </a:r>
            <a:endParaRPr sz="2200"/>
          </a:p>
          <a:p>
            <a:pPr indent="0" lvl="0" marL="0" rtl="0" algn="l">
              <a:lnSpc>
                <a:spcPct val="100000"/>
              </a:lnSpc>
              <a:spcBef>
                <a:spcPts val="1200"/>
              </a:spcBef>
              <a:spcAft>
                <a:spcPts val="0"/>
              </a:spcAft>
              <a:buNone/>
            </a:pPr>
            <a:r>
              <a:rPr lang="en-GB" sz="2200"/>
              <a:t>1. </a:t>
            </a:r>
            <a:r>
              <a:rPr b="1" lang="en-GB" sz="2200"/>
              <a:t>Pretraining a model </a:t>
            </a:r>
            <a:r>
              <a:rPr lang="en-GB" sz="2200"/>
              <a:t>(already done for us)</a:t>
            </a:r>
            <a:endParaRPr sz="2200"/>
          </a:p>
          <a:p>
            <a:pPr indent="0" lvl="0" marL="0" rtl="0" algn="l">
              <a:lnSpc>
                <a:spcPct val="100000"/>
              </a:lnSpc>
              <a:spcBef>
                <a:spcPts val="1200"/>
              </a:spcBef>
              <a:spcAft>
                <a:spcPts val="0"/>
              </a:spcAft>
              <a:buNone/>
            </a:pPr>
            <a:r>
              <a:rPr lang="en-GB" sz="2200"/>
              <a:t>2. </a:t>
            </a:r>
            <a:r>
              <a:rPr b="1" lang="en-GB" sz="2200"/>
              <a:t>Fine-tuning it for a particular task</a:t>
            </a:r>
            <a:endParaRPr b="1" sz="2200"/>
          </a:p>
          <a:p>
            <a:pPr indent="0" lvl="0" marL="0" rtl="0" algn="l">
              <a:lnSpc>
                <a:spcPct val="100000"/>
              </a:lnSpc>
              <a:spcBef>
                <a:spcPts val="1200"/>
              </a:spcBef>
              <a:spcAft>
                <a:spcPts val="0"/>
              </a:spcAft>
              <a:buNone/>
            </a:pPr>
            <a:r>
              <a:rPr lang="en-GB" sz="2200"/>
              <a:t>However, since these models are pretrained on very general data (e.g., Wikipedia), it is not tuned to domain-specific words.</a:t>
            </a:r>
            <a:endParaRPr sz="2200"/>
          </a:p>
          <a:p>
            <a:pPr indent="0" lvl="0" marL="0" rtl="0" algn="l">
              <a:lnSpc>
                <a:spcPct val="100000"/>
              </a:lnSpc>
              <a:spcBef>
                <a:spcPts val="1200"/>
              </a:spcBef>
              <a:spcAft>
                <a:spcPts val="0"/>
              </a:spcAft>
              <a:buNone/>
            </a:pPr>
            <a:r>
              <a:rPr lang="en-GB" sz="2200"/>
              <a:t>To address this, an </a:t>
            </a:r>
            <a:r>
              <a:rPr b="1" lang="en-GB" sz="2200"/>
              <a:t>extra step is added between these two steps</a:t>
            </a:r>
            <a:r>
              <a:rPr lang="en-GB" sz="2200"/>
              <a:t>. It is </a:t>
            </a:r>
            <a:r>
              <a:rPr b="1" i="1" lang="en-GB" sz="2200"/>
              <a:t>continue pretraining</a:t>
            </a:r>
            <a:r>
              <a:rPr lang="en-GB" sz="2200"/>
              <a:t> an already pretrained BERT model.</a:t>
            </a:r>
            <a:endParaRPr sz="2200"/>
          </a:p>
          <a:p>
            <a:pPr indent="0" lvl="0" marL="0" rtl="0" algn="l">
              <a:lnSpc>
                <a:spcPct val="100000"/>
              </a:lnSpc>
              <a:spcBef>
                <a:spcPts val="1200"/>
              </a:spcBef>
              <a:spcAft>
                <a:spcPts val="0"/>
              </a:spcAft>
              <a:buNone/>
            </a:pPr>
            <a:r>
              <a:rPr lang="en-GB" sz="2200"/>
              <a:t>We simply continue training the BERT model using </a:t>
            </a:r>
            <a:r>
              <a:rPr b="1" lang="en-GB" sz="2200"/>
              <a:t>masked language modeling (MLM).</a:t>
            </a:r>
            <a:endParaRPr b="1" sz="22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7"/>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Continued Pretraining with Masked Language</a:t>
            </a:r>
            <a:endParaRPr>
              <a:highlight>
                <a:schemeClr val="lt1"/>
              </a:highlight>
            </a:endParaRPr>
          </a:p>
        </p:txBody>
      </p:sp>
      <p:sp>
        <p:nvSpPr>
          <p:cNvPr id="345" name="Google Shape;345;p57"/>
          <p:cNvSpPr txBox="1"/>
          <p:nvPr>
            <p:ph idx="1" type="body"/>
          </p:nvPr>
        </p:nvSpPr>
        <p:spPr>
          <a:xfrm>
            <a:off x="0" y="681200"/>
            <a:ext cx="3219000" cy="423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The data used to train it are domain-specific.</a:t>
            </a:r>
            <a:endParaRPr sz="2200"/>
          </a:p>
          <a:p>
            <a:pPr indent="0" lvl="0" marL="0" rtl="0" algn="l">
              <a:lnSpc>
                <a:spcPct val="100000"/>
              </a:lnSpc>
              <a:spcBef>
                <a:spcPts val="1200"/>
              </a:spcBef>
              <a:spcAft>
                <a:spcPts val="0"/>
              </a:spcAft>
              <a:buNone/>
            </a:pPr>
            <a:r>
              <a:t/>
            </a:r>
            <a:endParaRPr sz="2200"/>
          </a:p>
          <a:p>
            <a:pPr indent="0" lvl="0" marL="0" rtl="0" algn="l">
              <a:lnSpc>
                <a:spcPct val="100000"/>
              </a:lnSpc>
              <a:spcBef>
                <a:spcPts val="1200"/>
              </a:spcBef>
              <a:spcAft>
                <a:spcPts val="0"/>
              </a:spcAft>
              <a:buNone/>
            </a:pPr>
            <a:r>
              <a:rPr lang="en-GB" sz="2200"/>
              <a:t>The advantage of this is that it doesn't require pretraining from scratch.</a:t>
            </a:r>
            <a:endParaRPr sz="2200"/>
          </a:p>
        </p:txBody>
      </p:sp>
      <p:pic>
        <p:nvPicPr>
          <p:cNvPr id="346" name="Google Shape;346;p57"/>
          <p:cNvPicPr preferRelativeResize="0"/>
          <p:nvPr/>
        </p:nvPicPr>
        <p:blipFill>
          <a:blip r:embed="rId3">
            <a:alphaModFix/>
          </a:blip>
          <a:stretch>
            <a:fillRect/>
          </a:stretch>
        </p:blipFill>
        <p:spPr>
          <a:xfrm>
            <a:off x="3219000" y="791238"/>
            <a:ext cx="5831525" cy="356102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8"/>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Continued Pretraining with Masked Language</a:t>
            </a:r>
            <a:endParaRPr>
              <a:highlight>
                <a:schemeClr val="lt1"/>
              </a:highlight>
            </a:endParaRPr>
          </a:p>
        </p:txBody>
      </p:sp>
      <p:sp>
        <p:nvSpPr>
          <p:cNvPr id="352" name="Google Shape;352;p58"/>
          <p:cNvSpPr txBox="1"/>
          <p:nvPr>
            <p:ph idx="1" type="body"/>
          </p:nvPr>
        </p:nvSpPr>
        <p:spPr>
          <a:xfrm>
            <a:off x="0" y="681200"/>
            <a:ext cx="8998200" cy="423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We need to tokenize the raw sentences and remove the labels since this is not a supervised task:</a:t>
            </a:r>
            <a:endParaRPr sz="2200"/>
          </a:p>
          <a:p>
            <a:pPr indent="0" lvl="0" marL="0" rtl="0" algn="l">
              <a:lnSpc>
                <a:spcPct val="100000"/>
              </a:lnSpc>
              <a:spcBef>
                <a:spcPts val="1200"/>
              </a:spcBef>
              <a:spcAft>
                <a:spcPts val="0"/>
              </a:spcAft>
              <a:buNone/>
            </a:pPr>
            <a:r>
              <a:t/>
            </a:r>
            <a:endParaRPr sz="2200"/>
          </a:p>
          <a:p>
            <a:pPr indent="0" lvl="0" marL="0" rtl="0" algn="l">
              <a:lnSpc>
                <a:spcPct val="100000"/>
              </a:lnSpc>
              <a:spcBef>
                <a:spcPts val="1200"/>
              </a:spcBef>
              <a:spcAft>
                <a:spcPts val="0"/>
              </a:spcAft>
              <a:buNone/>
            </a:pPr>
            <a:r>
              <a:t/>
            </a:r>
            <a:endParaRPr sz="2200"/>
          </a:p>
        </p:txBody>
      </p:sp>
      <p:pic>
        <p:nvPicPr>
          <p:cNvPr id="353" name="Google Shape;353;p58"/>
          <p:cNvPicPr preferRelativeResize="0"/>
          <p:nvPr/>
        </p:nvPicPr>
        <p:blipFill>
          <a:blip r:embed="rId3">
            <a:alphaModFix/>
          </a:blip>
          <a:stretch>
            <a:fillRect/>
          </a:stretch>
        </p:blipFill>
        <p:spPr>
          <a:xfrm>
            <a:off x="123675" y="1685625"/>
            <a:ext cx="8959951" cy="23699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9"/>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Continued Pretraining with Masked Language</a:t>
            </a:r>
            <a:endParaRPr>
              <a:highlight>
                <a:schemeClr val="lt1"/>
              </a:highlight>
            </a:endParaRPr>
          </a:p>
        </p:txBody>
      </p:sp>
      <p:sp>
        <p:nvSpPr>
          <p:cNvPr id="359" name="Google Shape;359;p59"/>
          <p:cNvSpPr txBox="1"/>
          <p:nvPr>
            <p:ph idx="1" type="body"/>
          </p:nvPr>
        </p:nvSpPr>
        <p:spPr>
          <a:xfrm>
            <a:off x="0" y="681200"/>
            <a:ext cx="8998200" cy="42393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00000"/>
              </a:lnSpc>
              <a:spcBef>
                <a:spcPts val="1200"/>
              </a:spcBef>
              <a:spcAft>
                <a:spcPts val="0"/>
              </a:spcAft>
              <a:buNone/>
            </a:pPr>
            <a:r>
              <a:rPr lang="en-GB" sz="2200"/>
              <a:t>Previously, we used </a:t>
            </a:r>
            <a:r>
              <a:rPr lang="en-GB" sz="2200">
                <a:solidFill>
                  <a:srgbClr val="188038"/>
                </a:solidFill>
                <a:latin typeface="Roboto Mono"/>
                <a:ea typeface="Roboto Mono"/>
                <a:cs typeface="Roboto Mono"/>
                <a:sym typeface="Roboto Mono"/>
              </a:rPr>
              <a:t>DataCollatorWithPadding</a:t>
            </a:r>
            <a:r>
              <a:rPr lang="en-GB" sz="2200"/>
              <a:t> , which dynamically pads the input it receives.</a:t>
            </a:r>
            <a:endParaRPr sz="2200"/>
          </a:p>
          <a:p>
            <a:pPr indent="0" lvl="0" marL="0" rtl="0" algn="l">
              <a:lnSpc>
                <a:spcPct val="100000"/>
              </a:lnSpc>
              <a:spcBef>
                <a:spcPts val="1200"/>
              </a:spcBef>
              <a:spcAft>
                <a:spcPts val="0"/>
              </a:spcAft>
              <a:buNone/>
            </a:pPr>
            <a:r>
              <a:rPr lang="en-GB" sz="2200"/>
              <a:t>Now, we use </a:t>
            </a:r>
            <a:r>
              <a:rPr lang="en-GB" sz="2200">
                <a:solidFill>
                  <a:srgbClr val="188038"/>
                </a:solidFill>
                <a:latin typeface="Roboto Mono"/>
                <a:ea typeface="Roboto Mono"/>
                <a:cs typeface="Roboto Mono"/>
                <a:sym typeface="Roboto Mono"/>
              </a:rPr>
              <a:t>DataCollator</a:t>
            </a:r>
            <a:r>
              <a:rPr lang="en-GB" sz="2200"/>
              <a:t> that will perform the masking of tokens for us.</a:t>
            </a:r>
            <a:endParaRPr sz="2200"/>
          </a:p>
          <a:p>
            <a:pPr indent="0" lvl="0" marL="0" rtl="0" algn="l">
              <a:lnSpc>
                <a:spcPct val="100000"/>
              </a:lnSpc>
              <a:spcBef>
                <a:spcPts val="1200"/>
              </a:spcBef>
              <a:spcAft>
                <a:spcPts val="0"/>
              </a:spcAft>
              <a:buNone/>
            </a:pPr>
            <a:r>
              <a:rPr lang="en-GB" sz="2200"/>
              <a:t>There are generally </a:t>
            </a:r>
            <a:r>
              <a:rPr b="1" lang="en-GB" sz="2200"/>
              <a:t>two methods of masking</a:t>
            </a:r>
            <a:r>
              <a:rPr lang="en-GB" sz="2200"/>
              <a:t> used:</a:t>
            </a:r>
            <a:endParaRPr sz="2200"/>
          </a:p>
          <a:p>
            <a:pPr indent="0" lvl="0" marL="0" rtl="0" algn="l">
              <a:lnSpc>
                <a:spcPct val="100000"/>
              </a:lnSpc>
              <a:spcBef>
                <a:spcPts val="1200"/>
              </a:spcBef>
              <a:spcAft>
                <a:spcPts val="0"/>
              </a:spcAft>
              <a:buNone/>
            </a:pPr>
            <a:r>
              <a:rPr lang="en-GB" sz="2200"/>
              <a:t>1. </a:t>
            </a:r>
            <a:r>
              <a:rPr b="1" lang="en-GB" sz="2200"/>
              <a:t>Token masking</a:t>
            </a:r>
            <a:r>
              <a:rPr lang="en-GB" sz="2200"/>
              <a:t>: randomly mask 15% of the tokens in a sentence. A part of a word could be</a:t>
            </a:r>
            <a:endParaRPr sz="2200"/>
          </a:p>
          <a:p>
            <a:pPr indent="0" lvl="0" marL="0" rtl="0" algn="l">
              <a:lnSpc>
                <a:spcPct val="100000"/>
              </a:lnSpc>
              <a:spcBef>
                <a:spcPts val="1200"/>
              </a:spcBef>
              <a:spcAft>
                <a:spcPts val="0"/>
              </a:spcAft>
              <a:buNone/>
            </a:pPr>
            <a:r>
              <a:rPr lang="en-GB" sz="2200"/>
              <a:t>masked.</a:t>
            </a:r>
            <a:endParaRPr sz="2200"/>
          </a:p>
          <a:p>
            <a:pPr indent="0" lvl="0" marL="0" rtl="0" algn="l">
              <a:lnSpc>
                <a:spcPct val="100000"/>
              </a:lnSpc>
              <a:spcBef>
                <a:spcPts val="1200"/>
              </a:spcBef>
              <a:spcAft>
                <a:spcPts val="0"/>
              </a:spcAft>
              <a:buNone/>
            </a:pPr>
            <a:r>
              <a:rPr lang="en-GB" sz="2200"/>
              <a:t>2. </a:t>
            </a:r>
            <a:r>
              <a:rPr b="1" lang="en-GB" sz="2200"/>
              <a:t>Whole-word masking</a:t>
            </a:r>
            <a:r>
              <a:rPr lang="en-GB" sz="2200"/>
              <a:t>: To avoid masking just a part of a word, we use whole-word masking</a:t>
            </a:r>
            <a:endParaRPr sz="22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0"/>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Continued Pretraining with Masked Language</a:t>
            </a:r>
            <a:endParaRPr>
              <a:highlight>
                <a:schemeClr val="lt1"/>
              </a:highlight>
            </a:endParaRPr>
          </a:p>
        </p:txBody>
      </p:sp>
      <p:sp>
        <p:nvSpPr>
          <p:cNvPr id="365" name="Google Shape;365;p60"/>
          <p:cNvSpPr txBox="1"/>
          <p:nvPr>
            <p:ph idx="1" type="body"/>
          </p:nvPr>
        </p:nvSpPr>
        <p:spPr>
          <a:xfrm>
            <a:off x="104550" y="766725"/>
            <a:ext cx="3456600" cy="423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Predicting whole words is more complicated than tokens, which makes the model perform better as it needs to learn more accurate and precise representations during training. </a:t>
            </a:r>
            <a:endParaRPr sz="2200"/>
          </a:p>
          <a:p>
            <a:pPr indent="0" lvl="0" marL="0" rtl="0" algn="l">
              <a:lnSpc>
                <a:spcPct val="100000"/>
              </a:lnSpc>
              <a:spcBef>
                <a:spcPts val="1200"/>
              </a:spcBef>
              <a:spcAft>
                <a:spcPts val="0"/>
              </a:spcAft>
              <a:buNone/>
            </a:pPr>
            <a:r>
              <a:rPr lang="en-GB" sz="2200"/>
              <a:t>But it tends to take a bit more time to converge.</a:t>
            </a:r>
            <a:endParaRPr sz="2200"/>
          </a:p>
        </p:txBody>
      </p:sp>
      <p:pic>
        <p:nvPicPr>
          <p:cNvPr id="366" name="Google Shape;366;p60"/>
          <p:cNvPicPr preferRelativeResize="0"/>
          <p:nvPr/>
        </p:nvPicPr>
        <p:blipFill>
          <a:blip r:embed="rId3">
            <a:alphaModFix/>
          </a:blip>
          <a:stretch>
            <a:fillRect/>
          </a:stretch>
        </p:blipFill>
        <p:spPr>
          <a:xfrm>
            <a:off x="3463876" y="951550"/>
            <a:ext cx="5638875" cy="29228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1"/>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Continued Pretraining with Masked Language</a:t>
            </a:r>
            <a:endParaRPr>
              <a:highlight>
                <a:schemeClr val="lt1"/>
              </a:highlight>
            </a:endParaRPr>
          </a:p>
        </p:txBody>
      </p:sp>
      <p:sp>
        <p:nvSpPr>
          <p:cNvPr id="372" name="Google Shape;372;p61"/>
          <p:cNvSpPr txBox="1"/>
          <p:nvPr>
            <p:ph idx="1" type="body"/>
          </p:nvPr>
        </p:nvSpPr>
        <p:spPr>
          <a:xfrm>
            <a:off x="104550" y="681200"/>
            <a:ext cx="8998200" cy="4324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We will be going with token masking and use </a:t>
            </a:r>
            <a:r>
              <a:rPr lang="en-GB" sz="2200">
                <a:solidFill>
                  <a:srgbClr val="188038"/>
                </a:solidFill>
                <a:latin typeface="Roboto Mono"/>
                <a:ea typeface="Roboto Mono"/>
                <a:cs typeface="Roboto Mono"/>
                <a:sym typeface="Roboto Mono"/>
              </a:rPr>
              <a:t>DataCollatorForLanguageModeling</a:t>
            </a:r>
            <a:r>
              <a:rPr lang="en-GB" sz="2200"/>
              <a:t> for faster convergence.</a:t>
            </a:r>
            <a:endParaRPr sz="2200"/>
          </a:p>
          <a:p>
            <a:pPr indent="0" lvl="0" marL="0" rtl="0" algn="l">
              <a:lnSpc>
                <a:spcPct val="100000"/>
              </a:lnSpc>
              <a:spcBef>
                <a:spcPts val="1200"/>
              </a:spcBef>
              <a:spcAft>
                <a:spcPts val="0"/>
              </a:spcAft>
              <a:buNone/>
            </a:pPr>
            <a:r>
              <a:rPr lang="en-GB" sz="2200"/>
              <a:t>For whole-word masking, you can use </a:t>
            </a:r>
            <a:r>
              <a:rPr lang="en-GB" sz="1900">
                <a:solidFill>
                  <a:srgbClr val="188038"/>
                </a:solidFill>
                <a:latin typeface="Roboto Mono"/>
                <a:ea typeface="Roboto Mono"/>
                <a:cs typeface="Roboto Mono"/>
                <a:sym typeface="Roboto Mono"/>
              </a:rPr>
              <a:t>DataCollatorForWholeWordMask</a:t>
            </a:r>
            <a:endParaRPr sz="1900">
              <a:solidFill>
                <a:srgbClr val="188038"/>
              </a:solidFill>
              <a:latin typeface="Roboto Mono"/>
              <a:ea typeface="Roboto Mono"/>
              <a:cs typeface="Roboto Mono"/>
              <a:sym typeface="Roboto Mono"/>
            </a:endParaRPr>
          </a:p>
          <a:p>
            <a:pPr indent="0" lvl="0" marL="0" rtl="0" algn="l">
              <a:lnSpc>
                <a:spcPct val="100000"/>
              </a:lnSpc>
              <a:spcBef>
                <a:spcPts val="1200"/>
              </a:spcBef>
              <a:spcAft>
                <a:spcPts val="0"/>
              </a:spcAft>
              <a:buNone/>
            </a:pPr>
            <a:r>
              <a:rPr lang="en-GB" sz="2200"/>
              <a:t>Lastly, we set the percentage of masked tokens to 15%:</a:t>
            </a:r>
            <a:endParaRPr sz="2200"/>
          </a:p>
          <a:p>
            <a:pPr indent="0" lvl="0" marL="0" rtl="0" algn="l">
              <a:lnSpc>
                <a:spcPct val="100000"/>
              </a:lnSpc>
              <a:spcBef>
                <a:spcPts val="1200"/>
              </a:spcBef>
              <a:spcAft>
                <a:spcPts val="0"/>
              </a:spcAft>
              <a:buNone/>
            </a:pPr>
            <a:r>
              <a:rPr lang="en-GB" sz="2200"/>
              <a:t> </a:t>
            </a:r>
            <a:endParaRPr sz="2200"/>
          </a:p>
        </p:txBody>
      </p:sp>
      <p:pic>
        <p:nvPicPr>
          <p:cNvPr id="373" name="Google Shape;373;p61"/>
          <p:cNvPicPr preferRelativeResize="0"/>
          <p:nvPr/>
        </p:nvPicPr>
        <p:blipFill>
          <a:blip r:embed="rId3">
            <a:alphaModFix/>
          </a:blip>
          <a:stretch>
            <a:fillRect/>
          </a:stretch>
        </p:blipFill>
        <p:spPr>
          <a:xfrm>
            <a:off x="547675" y="2740750"/>
            <a:ext cx="8048625" cy="20193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2"/>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Continued Pretraining with Masked Language</a:t>
            </a:r>
            <a:endParaRPr>
              <a:highlight>
                <a:schemeClr val="lt1"/>
              </a:highlight>
            </a:endParaRPr>
          </a:p>
        </p:txBody>
      </p:sp>
      <p:sp>
        <p:nvSpPr>
          <p:cNvPr id="379" name="Google Shape;379;p62"/>
          <p:cNvSpPr txBox="1"/>
          <p:nvPr>
            <p:ph idx="1" type="body"/>
          </p:nvPr>
        </p:nvSpPr>
        <p:spPr>
          <a:xfrm>
            <a:off x="104550" y="681200"/>
            <a:ext cx="3827400" cy="4324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Next, we will create the </a:t>
            </a:r>
            <a:r>
              <a:rPr lang="en-GB" sz="2200">
                <a:solidFill>
                  <a:srgbClr val="188038"/>
                </a:solidFill>
                <a:latin typeface="Roboto Mono"/>
                <a:ea typeface="Roboto Mono"/>
                <a:cs typeface="Roboto Mono"/>
                <a:sym typeface="Roboto Mono"/>
              </a:rPr>
              <a:t>Trainer</a:t>
            </a:r>
            <a:r>
              <a:rPr lang="en-GB" sz="2200"/>
              <a:t> for running the MLM task and specify certain parameters:</a:t>
            </a:r>
            <a:endParaRPr sz="2200"/>
          </a:p>
          <a:p>
            <a:pPr indent="0" lvl="0" marL="0" rtl="0" algn="l">
              <a:lnSpc>
                <a:spcPct val="100000"/>
              </a:lnSpc>
              <a:spcBef>
                <a:spcPts val="1200"/>
              </a:spcBef>
              <a:spcAft>
                <a:spcPts val="0"/>
              </a:spcAft>
              <a:buNone/>
            </a:pPr>
            <a:r>
              <a:rPr lang="en-GB" sz="2200"/>
              <a:t> </a:t>
            </a:r>
            <a:endParaRPr sz="2200"/>
          </a:p>
        </p:txBody>
      </p:sp>
      <p:pic>
        <p:nvPicPr>
          <p:cNvPr id="380" name="Google Shape;380;p62"/>
          <p:cNvPicPr preferRelativeResize="0"/>
          <p:nvPr/>
        </p:nvPicPr>
        <p:blipFill rotWithShape="1">
          <a:blip r:embed="rId3">
            <a:alphaModFix/>
          </a:blip>
          <a:srcRect b="0" l="0" r="35987" t="0"/>
          <a:stretch/>
        </p:blipFill>
        <p:spPr>
          <a:xfrm>
            <a:off x="4150624" y="795350"/>
            <a:ext cx="4315350" cy="426015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63"/>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Continued Pretraining with Masked Language</a:t>
            </a:r>
            <a:endParaRPr>
              <a:highlight>
                <a:schemeClr val="lt1"/>
              </a:highlight>
            </a:endParaRPr>
          </a:p>
        </p:txBody>
      </p:sp>
      <p:sp>
        <p:nvSpPr>
          <p:cNvPr id="386" name="Google Shape;386;p63"/>
          <p:cNvSpPr txBox="1"/>
          <p:nvPr>
            <p:ph idx="1" type="body"/>
          </p:nvPr>
        </p:nvSpPr>
        <p:spPr>
          <a:xfrm>
            <a:off x="104550" y="681200"/>
            <a:ext cx="8598900" cy="675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After we continue pretraining, we save the pretrained tokenizer.</a:t>
            </a:r>
            <a:endParaRPr sz="2200"/>
          </a:p>
        </p:txBody>
      </p:sp>
      <p:pic>
        <p:nvPicPr>
          <p:cNvPr id="387" name="Google Shape;387;p63"/>
          <p:cNvPicPr preferRelativeResize="0"/>
          <p:nvPr/>
        </p:nvPicPr>
        <p:blipFill>
          <a:blip r:embed="rId3">
            <a:alphaModFix/>
          </a:blip>
          <a:stretch>
            <a:fillRect/>
          </a:stretch>
        </p:blipFill>
        <p:spPr>
          <a:xfrm>
            <a:off x="348613" y="1481338"/>
            <a:ext cx="7553325" cy="1971675"/>
          </a:xfrm>
          <a:prstGeom prst="rect">
            <a:avLst/>
          </a:prstGeom>
          <a:noFill/>
          <a:ln>
            <a:noFill/>
          </a:ln>
        </p:spPr>
      </p:pic>
      <p:sp>
        <p:nvSpPr>
          <p:cNvPr id="388" name="Google Shape;388;p63"/>
          <p:cNvSpPr txBox="1"/>
          <p:nvPr>
            <p:ph idx="1" type="body"/>
          </p:nvPr>
        </p:nvSpPr>
        <p:spPr>
          <a:xfrm>
            <a:off x="272550" y="3578175"/>
            <a:ext cx="8598900" cy="675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This gives us an updated model in the mlm folder.</a:t>
            </a:r>
            <a:endParaRPr sz="22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4"/>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Continued Pretraining with Masked Language</a:t>
            </a:r>
            <a:endParaRPr>
              <a:highlight>
                <a:schemeClr val="lt1"/>
              </a:highlight>
            </a:endParaRPr>
          </a:p>
        </p:txBody>
      </p:sp>
      <p:sp>
        <p:nvSpPr>
          <p:cNvPr id="394" name="Google Shape;394;p64"/>
          <p:cNvSpPr txBox="1"/>
          <p:nvPr>
            <p:ph idx="1" type="body"/>
          </p:nvPr>
        </p:nvSpPr>
        <p:spPr>
          <a:xfrm>
            <a:off x="0" y="681200"/>
            <a:ext cx="3418800" cy="413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We will run some masking tasks to see if it has learned from its continued training.</a:t>
            </a:r>
            <a:endParaRPr sz="2200"/>
          </a:p>
        </p:txBody>
      </p:sp>
      <p:pic>
        <p:nvPicPr>
          <p:cNvPr id="395" name="Google Shape;395;p64"/>
          <p:cNvPicPr preferRelativeResize="0"/>
          <p:nvPr/>
        </p:nvPicPr>
        <p:blipFill>
          <a:blip r:embed="rId3">
            <a:alphaModFix/>
          </a:blip>
          <a:stretch>
            <a:fillRect/>
          </a:stretch>
        </p:blipFill>
        <p:spPr>
          <a:xfrm>
            <a:off x="3460175" y="780063"/>
            <a:ext cx="5540450" cy="35833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5"/>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Continued Pretraining with Masked Language</a:t>
            </a:r>
            <a:endParaRPr>
              <a:highlight>
                <a:schemeClr val="lt1"/>
              </a:highlight>
            </a:endParaRPr>
          </a:p>
        </p:txBody>
      </p:sp>
      <p:sp>
        <p:nvSpPr>
          <p:cNvPr id="401" name="Google Shape;401;p65"/>
          <p:cNvSpPr txBox="1"/>
          <p:nvPr>
            <p:ph idx="1" type="body"/>
          </p:nvPr>
        </p:nvSpPr>
        <p:spPr>
          <a:xfrm>
            <a:off x="0" y="681200"/>
            <a:ext cx="8808300" cy="665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Next, let’s see what our updated model predicts:</a:t>
            </a:r>
            <a:endParaRPr sz="2200"/>
          </a:p>
        </p:txBody>
      </p:sp>
      <p:pic>
        <p:nvPicPr>
          <p:cNvPr id="402" name="Google Shape;402;p65"/>
          <p:cNvPicPr preferRelativeResize="0"/>
          <p:nvPr/>
        </p:nvPicPr>
        <p:blipFill>
          <a:blip r:embed="rId3">
            <a:alphaModFix/>
          </a:blip>
          <a:stretch>
            <a:fillRect/>
          </a:stretch>
        </p:blipFill>
        <p:spPr>
          <a:xfrm>
            <a:off x="1223450" y="1154738"/>
            <a:ext cx="6491601" cy="2834025"/>
          </a:xfrm>
          <a:prstGeom prst="rect">
            <a:avLst/>
          </a:prstGeom>
          <a:noFill/>
          <a:ln>
            <a:noFill/>
          </a:ln>
        </p:spPr>
      </p:pic>
      <p:sp>
        <p:nvSpPr>
          <p:cNvPr id="403" name="Google Shape;403;p65"/>
          <p:cNvSpPr txBox="1"/>
          <p:nvPr>
            <p:ph idx="1" type="body"/>
          </p:nvPr>
        </p:nvSpPr>
        <p:spPr>
          <a:xfrm>
            <a:off x="65100" y="3988750"/>
            <a:ext cx="8808300" cy="967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highlight>
                  <a:schemeClr val="lt1"/>
                </a:highlight>
              </a:rPr>
              <a:t>As you can see, the model now generates words from the data we trained it on (Rotten Tomatoes reviews dataset).</a:t>
            </a:r>
            <a:endParaRPr sz="2200">
              <a:highlight>
                <a:schemeClr val="lt1"/>
              </a:high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6"/>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Named-Entity Recognition</a:t>
            </a:r>
            <a:endParaRPr>
              <a:highlight>
                <a:schemeClr val="lt1"/>
              </a:highlight>
            </a:endParaRPr>
          </a:p>
        </p:txBody>
      </p:sp>
      <p:sp>
        <p:nvSpPr>
          <p:cNvPr id="409" name="Google Shape;409;p66"/>
          <p:cNvSpPr txBox="1"/>
          <p:nvPr>
            <p:ph idx="1" type="body"/>
          </p:nvPr>
        </p:nvSpPr>
        <p:spPr>
          <a:xfrm>
            <a:off x="0" y="681200"/>
            <a:ext cx="3523200" cy="427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Unlike typical classification of entire documents or texts, </a:t>
            </a:r>
            <a:r>
              <a:rPr b="1" lang="en-GB" sz="2200"/>
              <a:t>Named-Entity Recognition</a:t>
            </a:r>
            <a:r>
              <a:rPr lang="en-GB" sz="2200"/>
              <a:t> involves identifying tokens and/or words of entities (names, places, events, etc.)</a:t>
            </a:r>
            <a:endParaRPr sz="2200"/>
          </a:p>
          <a:p>
            <a:pPr indent="0" lvl="0" marL="0" rtl="0" algn="l">
              <a:lnSpc>
                <a:spcPct val="100000"/>
              </a:lnSpc>
              <a:spcBef>
                <a:spcPts val="1200"/>
              </a:spcBef>
              <a:spcAft>
                <a:spcPts val="0"/>
              </a:spcAft>
              <a:buNone/>
            </a:pPr>
            <a:r>
              <a:rPr lang="en-GB" sz="2200"/>
              <a:t>This is helpful for </a:t>
            </a:r>
            <a:r>
              <a:rPr b="1" lang="en-GB" sz="2200"/>
              <a:t>de-identification</a:t>
            </a:r>
            <a:r>
              <a:rPr lang="en-GB" sz="2200"/>
              <a:t> and </a:t>
            </a:r>
            <a:r>
              <a:rPr b="1" lang="en-GB" sz="2200"/>
              <a:t>anonymization</a:t>
            </a:r>
            <a:r>
              <a:rPr lang="en-GB" sz="2200"/>
              <a:t> tasks when there are sensitive data.</a:t>
            </a:r>
            <a:endParaRPr sz="2200"/>
          </a:p>
        </p:txBody>
      </p:sp>
      <p:pic>
        <p:nvPicPr>
          <p:cNvPr id="410" name="Google Shape;410;p66"/>
          <p:cNvPicPr preferRelativeResize="0"/>
          <p:nvPr/>
        </p:nvPicPr>
        <p:blipFill>
          <a:blip r:embed="rId3">
            <a:alphaModFix/>
          </a:blip>
          <a:stretch>
            <a:fillRect/>
          </a:stretch>
        </p:blipFill>
        <p:spPr>
          <a:xfrm>
            <a:off x="3460125" y="937925"/>
            <a:ext cx="5642625" cy="27879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7"/>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Preparing Data for Named-Entity Recognition</a:t>
            </a:r>
            <a:endParaRPr>
              <a:highlight>
                <a:schemeClr val="lt1"/>
              </a:highlight>
            </a:endParaRPr>
          </a:p>
        </p:txBody>
      </p:sp>
      <p:sp>
        <p:nvSpPr>
          <p:cNvPr id="416" name="Google Shape;416;p67"/>
          <p:cNvSpPr txBox="1"/>
          <p:nvPr>
            <p:ph idx="1" type="body"/>
          </p:nvPr>
        </p:nvSpPr>
        <p:spPr>
          <a:xfrm>
            <a:off x="0" y="709700"/>
            <a:ext cx="8922300" cy="4277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In this example, we will use the English version of the </a:t>
            </a:r>
            <a:r>
              <a:rPr b="1" lang="en-GB" sz="2200"/>
              <a:t>ConLL</a:t>
            </a:r>
            <a:r>
              <a:rPr lang="en-GB" sz="2200"/>
              <a:t>-</a:t>
            </a:r>
            <a:r>
              <a:rPr b="1" lang="en-GB" sz="2200"/>
              <a:t>2003</a:t>
            </a:r>
            <a:r>
              <a:rPr lang="en-GB" sz="2200"/>
              <a:t> dataset, which contains several different types of named entities (person, organizations, etc.) and has roughly 14,000 training samples.</a:t>
            </a:r>
            <a:endParaRPr sz="2200"/>
          </a:p>
        </p:txBody>
      </p:sp>
      <p:pic>
        <p:nvPicPr>
          <p:cNvPr id="417" name="Google Shape;417;p67"/>
          <p:cNvPicPr preferRelativeResize="0"/>
          <p:nvPr/>
        </p:nvPicPr>
        <p:blipFill>
          <a:blip r:embed="rId3">
            <a:alphaModFix/>
          </a:blip>
          <a:stretch>
            <a:fillRect/>
          </a:stretch>
        </p:blipFill>
        <p:spPr>
          <a:xfrm>
            <a:off x="210250" y="2351913"/>
            <a:ext cx="8058150" cy="5810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8"/>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Preparing Data for Named-Entity Recognition</a:t>
            </a:r>
            <a:endParaRPr>
              <a:highlight>
                <a:schemeClr val="lt1"/>
              </a:highlight>
            </a:endParaRPr>
          </a:p>
        </p:txBody>
      </p:sp>
      <p:sp>
        <p:nvSpPr>
          <p:cNvPr id="423" name="Google Shape;423;p68"/>
          <p:cNvSpPr txBox="1"/>
          <p:nvPr>
            <p:ph idx="1" type="body"/>
          </p:nvPr>
        </p:nvSpPr>
        <p:spPr>
          <a:xfrm>
            <a:off x="0" y="605175"/>
            <a:ext cx="8922300" cy="4381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n-GB" sz="2200"/>
              <a:t>Let’s inspect the structure of the data with an example:</a:t>
            </a:r>
            <a:endParaRPr sz="2200"/>
          </a:p>
        </p:txBody>
      </p:sp>
      <p:pic>
        <p:nvPicPr>
          <p:cNvPr id="424" name="Google Shape;424;p68"/>
          <p:cNvPicPr preferRelativeResize="0"/>
          <p:nvPr/>
        </p:nvPicPr>
        <p:blipFill>
          <a:blip r:embed="rId3">
            <a:alphaModFix/>
          </a:blip>
          <a:stretch>
            <a:fillRect/>
          </a:stretch>
        </p:blipFill>
        <p:spPr>
          <a:xfrm>
            <a:off x="104550" y="1123425"/>
            <a:ext cx="7428775" cy="38636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9"/>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Preparing Data for Named-Entity Recognition</a:t>
            </a:r>
            <a:endParaRPr>
              <a:highlight>
                <a:schemeClr val="lt1"/>
              </a:highlight>
            </a:endParaRPr>
          </a:p>
        </p:txBody>
      </p:sp>
      <p:sp>
        <p:nvSpPr>
          <p:cNvPr id="430" name="Google Shape;430;p69"/>
          <p:cNvSpPr txBox="1"/>
          <p:nvPr>
            <p:ph idx="1" type="body"/>
          </p:nvPr>
        </p:nvSpPr>
        <p:spPr>
          <a:xfrm>
            <a:off x="0" y="595675"/>
            <a:ext cx="8998200" cy="4496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200"/>
              </a:spcBef>
              <a:spcAft>
                <a:spcPts val="0"/>
              </a:spcAft>
              <a:buSzPts val="1100"/>
              <a:buNone/>
            </a:pPr>
            <a:r>
              <a:rPr lang="en-GB" sz="2235"/>
              <a:t>If two tokens that follow each other are part of the same phrase, then the start of that phrase is indicated with B, which is followed by an I to show that they belong to each other and are not independent entities.</a:t>
            </a:r>
            <a:endParaRPr sz="2235"/>
          </a:p>
        </p:txBody>
      </p:sp>
      <p:pic>
        <p:nvPicPr>
          <p:cNvPr id="431" name="Google Shape;431;p69"/>
          <p:cNvPicPr preferRelativeResize="0"/>
          <p:nvPr/>
        </p:nvPicPr>
        <p:blipFill>
          <a:blip r:embed="rId3">
            <a:alphaModFix/>
          </a:blip>
          <a:stretch>
            <a:fillRect/>
          </a:stretch>
        </p:blipFill>
        <p:spPr>
          <a:xfrm>
            <a:off x="595313" y="1894025"/>
            <a:ext cx="7953375" cy="27622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70"/>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Preparing Data for Named-Entity Recognition</a:t>
            </a:r>
            <a:endParaRPr>
              <a:highlight>
                <a:schemeClr val="lt1"/>
              </a:highlight>
            </a:endParaRPr>
          </a:p>
        </p:txBody>
      </p:sp>
      <p:sp>
        <p:nvSpPr>
          <p:cNvPr id="437" name="Google Shape;437;p70"/>
          <p:cNvSpPr txBox="1"/>
          <p:nvPr>
            <p:ph idx="1" type="body"/>
          </p:nvPr>
        </p:nvSpPr>
        <p:spPr>
          <a:xfrm>
            <a:off x="0" y="595675"/>
            <a:ext cx="8998200" cy="4496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200"/>
              </a:spcBef>
              <a:spcAft>
                <a:spcPts val="0"/>
              </a:spcAft>
              <a:buSzPts val="1100"/>
              <a:buNone/>
            </a:pPr>
            <a:r>
              <a:rPr lang="en-GB" sz="2235"/>
              <a:t>We now tokenize the words with the tokenizer of the pretrained model </a:t>
            </a:r>
            <a:r>
              <a:rPr lang="en-GB" sz="2235">
                <a:solidFill>
                  <a:srgbClr val="188038"/>
                </a:solidFill>
                <a:latin typeface="Roboto Mono"/>
                <a:ea typeface="Roboto Mono"/>
                <a:cs typeface="Roboto Mono"/>
                <a:sym typeface="Roboto Mono"/>
              </a:rPr>
              <a:t>bert-base-cased</a:t>
            </a:r>
            <a:r>
              <a:rPr lang="en-GB" sz="2235"/>
              <a:t>:</a:t>
            </a:r>
            <a:endParaRPr sz="2235"/>
          </a:p>
        </p:txBody>
      </p:sp>
      <p:pic>
        <p:nvPicPr>
          <p:cNvPr id="438" name="Google Shape;438;p70"/>
          <p:cNvPicPr preferRelativeResize="0"/>
          <p:nvPr/>
        </p:nvPicPr>
        <p:blipFill>
          <a:blip r:embed="rId3">
            <a:alphaModFix/>
          </a:blip>
          <a:stretch>
            <a:fillRect/>
          </a:stretch>
        </p:blipFill>
        <p:spPr>
          <a:xfrm>
            <a:off x="386388" y="1518376"/>
            <a:ext cx="8371226" cy="307780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1"/>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Preparing Data for Named-Entity Recognition</a:t>
            </a:r>
            <a:endParaRPr>
              <a:highlight>
                <a:schemeClr val="lt1"/>
              </a:highlight>
            </a:endParaRPr>
          </a:p>
        </p:txBody>
      </p:sp>
      <p:sp>
        <p:nvSpPr>
          <p:cNvPr id="444" name="Google Shape;444;p71"/>
          <p:cNvSpPr txBox="1"/>
          <p:nvPr>
            <p:ph idx="1" type="body"/>
          </p:nvPr>
        </p:nvSpPr>
        <p:spPr>
          <a:xfrm>
            <a:off x="0" y="595675"/>
            <a:ext cx="2716800" cy="4496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200"/>
              </a:spcBef>
              <a:spcAft>
                <a:spcPts val="0"/>
              </a:spcAft>
              <a:buSzPts val="1100"/>
              <a:buNone/>
            </a:pPr>
            <a:r>
              <a:rPr lang="en-GB" sz="2235"/>
              <a:t>Let's explore how the tokenizer would process our example:</a:t>
            </a:r>
            <a:endParaRPr sz="2235"/>
          </a:p>
          <a:p>
            <a:pPr indent="0" lvl="0" marL="0" rtl="0" algn="l">
              <a:lnSpc>
                <a:spcPct val="90000"/>
              </a:lnSpc>
              <a:spcBef>
                <a:spcPts val="1200"/>
              </a:spcBef>
              <a:spcAft>
                <a:spcPts val="0"/>
              </a:spcAft>
              <a:buSzPts val="1100"/>
              <a:buNone/>
            </a:pPr>
            <a:r>
              <a:t/>
            </a:r>
            <a:endParaRPr sz="2235"/>
          </a:p>
        </p:txBody>
      </p:sp>
      <p:pic>
        <p:nvPicPr>
          <p:cNvPr id="445" name="Google Shape;445;p71"/>
          <p:cNvPicPr preferRelativeResize="0"/>
          <p:nvPr/>
        </p:nvPicPr>
        <p:blipFill>
          <a:blip r:embed="rId3">
            <a:alphaModFix/>
          </a:blip>
          <a:stretch>
            <a:fillRect/>
          </a:stretch>
        </p:blipFill>
        <p:spPr>
          <a:xfrm>
            <a:off x="2716650" y="802174"/>
            <a:ext cx="6386099" cy="38332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72"/>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Preparing Data for Named-Entity Recognition</a:t>
            </a:r>
            <a:endParaRPr>
              <a:highlight>
                <a:schemeClr val="lt1"/>
              </a:highlight>
            </a:endParaRPr>
          </a:p>
        </p:txBody>
      </p:sp>
      <p:sp>
        <p:nvSpPr>
          <p:cNvPr id="451" name="Google Shape;451;p72"/>
          <p:cNvSpPr txBox="1"/>
          <p:nvPr>
            <p:ph idx="1" type="body"/>
          </p:nvPr>
        </p:nvSpPr>
        <p:spPr>
          <a:xfrm>
            <a:off x="0" y="595675"/>
            <a:ext cx="8998200" cy="4496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200"/>
              </a:spcBef>
              <a:spcAft>
                <a:spcPts val="0"/>
              </a:spcAft>
              <a:buSzPts val="1100"/>
              <a:buNone/>
            </a:pPr>
            <a:r>
              <a:rPr lang="en-GB" sz="2235"/>
              <a:t>Note that the word 'homer' was further split up into the tokens 'home' and '##r'</a:t>
            </a:r>
            <a:endParaRPr sz="2235"/>
          </a:p>
          <a:p>
            <a:pPr indent="0" lvl="0" marL="0" rtl="0" algn="l">
              <a:lnSpc>
                <a:spcPct val="90000"/>
              </a:lnSpc>
              <a:spcBef>
                <a:spcPts val="1200"/>
              </a:spcBef>
              <a:spcAft>
                <a:spcPts val="0"/>
              </a:spcAft>
              <a:buSzPts val="1100"/>
              <a:buNone/>
            </a:pPr>
            <a:r>
              <a:t/>
            </a:r>
            <a:endParaRPr sz="2235"/>
          </a:p>
          <a:p>
            <a:pPr indent="0" lvl="0" marL="0" rtl="0" algn="l">
              <a:lnSpc>
                <a:spcPct val="90000"/>
              </a:lnSpc>
              <a:spcBef>
                <a:spcPts val="1200"/>
              </a:spcBef>
              <a:spcAft>
                <a:spcPts val="0"/>
              </a:spcAft>
              <a:buSzPts val="1100"/>
              <a:buNone/>
            </a:pPr>
            <a:r>
              <a:rPr lang="en-GB" sz="2235"/>
              <a:t>This creates a bit of a problem for us since we have labeled data at the word level but not at the token level</a:t>
            </a:r>
            <a:endParaRPr sz="2235"/>
          </a:p>
          <a:p>
            <a:pPr indent="0" lvl="0" marL="0" rtl="0" algn="l">
              <a:lnSpc>
                <a:spcPct val="90000"/>
              </a:lnSpc>
              <a:spcBef>
                <a:spcPts val="1200"/>
              </a:spcBef>
              <a:spcAft>
                <a:spcPts val="0"/>
              </a:spcAft>
              <a:buSzPts val="1100"/>
              <a:buNone/>
            </a:pPr>
            <a:r>
              <a:t/>
            </a:r>
            <a:endParaRPr sz="2235"/>
          </a:p>
          <a:p>
            <a:pPr indent="0" lvl="0" marL="0" rtl="0" algn="l">
              <a:lnSpc>
                <a:spcPct val="90000"/>
              </a:lnSpc>
              <a:spcBef>
                <a:spcPts val="1200"/>
              </a:spcBef>
              <a:spcAft>
                <a:spcPts val="0"/>
              </a:spcAft>
              <a:buSzPts val="1100"/>
              <a:buNone/>
            </a:pPr>
            <a:r>
              <a:rPr lang="en-GB" sz="2235"/>
              <a:t>This can be resolved by </a:t>
            </a:r>
            <a:r>
              <a:rPr b="1" lang="en-GB" sz="2235"/>
              <a:t>aligning the labels with their subtoken counterparts during tokenization.</a:t>
            </a:r>
            <a:endParaRPr b="1" sz="2235"/>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73"/>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Preparing Data for Named-Entity Recognition</a:t>
            </a:r>
            <a:endParaRPr>
              <a:highlight>
                <a:schemeClr val="lt1"/>
              </a:highlight>
            </a:endParaRPr>
          </a:p>
        </p:txBody>
      </p:sp>
      <p:sp>
        <p:nvSpPr>
          <p:cNvPr id="457" name="Google Shape;457;p73"/>
          <p:cNvSpPr txBox="1"/>
          <p:nvPr>
            <p:ph idx="1" type="body"/>
          </p:nvPr>
        </p:nvSpPr>
        <p:spPr>
          <a:xfrm>
            <a:off x="0" y="595675"/>
            <a:ext cx="8998200" cy="4496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200"/>
              </a:spcBef>
              <a:spcAft>
                <a:spcPts val="0"/>
              </a:spcAft>
              <a:buSzPts val="1100"/>
              <a:buNone/>
            </a:pPr>
            <a:r>
              <a:rPr lang="en-GB" sz="2235"/>
              <a:t>Let's consider the word 'Maarten', which has the label B-PER to signal that this is a person.</a:t>
            </a:r>
            <a:endParaRPr sz="2235"/>
          </a:p>
          <a:p>
            <a:pPr indent="0" lvl="0" marL="0" rtl="0" algn="l">
              <a:lnSpc>
                <a:spcPct val="90000"/>
              </a:lnSpc>
              <a:spcBef>
                <a:spcPts val="1200"/>
              </a:spcBef>
              <a:spcAft>
                <a:spcPts val="0"/>
              </a:spcAft>
              <a:buSzPts val="1100"/>
              <a:buNone/>
            </a:pPr>
            <a:r>
              <a:rPr lang="en-GB" sz="2235"/>
              <a:t>If we pass that word through the tokenizer, it splits the word up into the tokens 'Ma', '##arte', and '##n'.</a:t>
            </a:r>
            <a:endParaRPr sz="2235"/>
          </a:p>
          <a:p>
            <a:pPr indent="0" lvl="0" marL="0" rtl="0" algn="l">
              <a:lnSpc>
                <a:spcPct val="90000"/>
              </a:lnSpc>
              <a:spcBef>
                <a:spcPts val="1200"/>
              </a:spcBef>
              <a:spcAft>
                <a:spcPts val="0"/>
              </a:spcAft>
              <a:buSzPts val="1100"/>
              <a:buNone/>
            </a:pPr>
            <a:r>
              <a:rPr lang="en-GB" sz="2235"/>
              <a:t>We cannot use the B-PER entity for all tokens as that would signal that the three tokens are all independent people.</a:t>
            </a:r>
            <a:endParaRPr sz="2235"/>
          </a:p>
          <a:p>
            <a:pPr indent="0" lvl="0" marL="0" rtl="0" algn="l">
              <a:lnSpc>
                <a:spcPct val="90000"/>
              </a:lnSpc>
              <a:spcBef>
                <a:spcPts val="1200"/>
              </a:spcBef>
              <a:spcAft>
                <a:spcPts val="0"/>
              </a:spcAft>
              <a:buSzPts val="1100"/>
              <a:buNone/>
            </a:pPr>
            <a:r>
              <a:rPr lang="en-GB" sz="2235"/>
              <a:t>Whenever an entity is split into tokens, the first token should have B (for beginning) and the following should be I (for inner).</a:t>
            </a:r>
            <a:endParaRPr sz="2235"/>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74"/>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Preparing Data for Named-Entity Recognition</a:t>
            </a:r>
            <a:endParaRPr>
              <a:highlight>
                <a:schemeClr val="lt1"/>
              </a:highlight>
            </a:endParaRPr>
          </a:p>
        </p:txBody>
      </p:sp>
      <p:sp>
        <p:nvSpPr>
          <p:cNvPr id="463" name="Google Shape;463;p74"/>
          <p:cNvSpPr txBox="1"/>
          <p:nvPr>
            <p:ph idx="1" type="body"/>
          </p:nvPr>
        </p:nvSpPr>
        <p:spPr>
          <a:xfrm>
            <a:off x="0" y="595675"/>
            <a:ext cx="8998200" cy="4496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200"/>
              </a:spcBef>
              <a:spcAft>
                <a:spcPts val="0"/>
              </a:spcAft>
              <a:buSzPts val="1100"/>
              <a:buNone/>
            </a:pPr>
            <a:r>
              <a:rPr lang="en-GB" sz="2235"/>
              <a:t>Therefore, 'Ma' will get the B-PER to signal the start of a phrase, and '##arte', and '##n' will get the I-PER to signal they belong to a phrase.</a:t>
            </a:r>
            <a:endParaRPr sz="2235"/>
          </a:p>
        </p:txBody>
      </p:sp>
      <p:pic>
        <p:nvPicPr>
          <p:cNvPr id="464" name="Google Shape;464;p74"/>
          <p:cNvPicPr preferRelativeResize="0"/>
          <p:nvPr/>
        </p:nvPicPr>
        <p:blipFill>
          <a:blip r:embed="rId3">
            <a:alphaModFix/>
          </a:blip>
          <a:stretch>
            <a:fillRect/>
          </a:stretch>
        </p:blipFill>
        <p:spPr>
          <a:xfrm>
            <a:off x="890901" y="1364925"/>
            <a:ext cx="6634224" cy="36032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75"/>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Preparing Data for Named-Entity Recognition</a:t>
            </a:r>
            <a:endParaRPr>
              <a:highlight>
                <a:schemeClr val="lt1"/>
              </a:highlight>
            </a:endParaRPr>
          </a:p>
        </p:txBody>
      </p:sp>
      <p:sp>
        <p:nvSpPr>
          <p:cNvPr id="470" name="Google Shape;470;p75"/>
          <p:cNvSpPr txBox="1"/>
          <p:nvPr>
            <p:ph idx="1" type="body"/>
          </p:nvPr>
        </p:nvSpPr>
        <p:spPr>
          <a:xfrm>
            <a:off x="0" y="595675"/>
            <a:ext cx="8998200" cy="4496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200"/>
              </a:spcBef>
              <a:spcAft>
                <a:spcPts val="0"/>
              </a:spcAft>
              <a:buSzPts val="1100"/>
              <a:buNone/>
            </a:pPr>
            <a:r>
              <a:rPr lang="en-GB" sz="2235"/>
              <a:t>We create a function, align_labels (</a:t>
            </a:r>
            <a:r>
              <a:rPr i="1" lang="en-GB" sz="2235"/>
              <a:t>see the notes/book, not included for brevity</a:t>
            </a:r>
            <a:r>
              <a:rPr lang="en-GB" sz="2235"/>
              <a:t>), that will tokenize the input and align these tokens with their updated labels during tokenization.</a:t>
            </a:r>
            <a:endParaRPr sz="2235"/>
          </a:p>
          <a:p>
            <a:pPr indent="0" lvl="0" marL="0" rtl="0" algn="l">
              <a:lnSpc>
                <a:spcPct val="90000"/>
              </a:lnSpc>
              <a:spcBef>
                <a:spcPts val="1200"/>
              </a:spcBef>
              <a:spcAft>
                <a:spcPts val="0"/>
              </a:spcAft>
              <a:buSzPts val="1100"/>
              <a:buNone/>
            </a:pPr>
            <a:r>
              <a:rPr lang="en-GB" sz="2235"/>
              <a:t>Looking at our example, note that additional labels (-100) were added for the [CLS] and [SEP] tokens:</a:t>
            </a:r>
            <a:endParaRPr sz="2235"/>
          </a:p>
        </p:txBody>
      </p:sp>
      <p:pic>
        <p:nvPicPr>
          <p:cNvPr id="471" name="Google Shape;471;p75"/>
          <p:cNvPicPr preferRelativeResize="0"/>
          <p:nvPr/>
        </p:nvPicPr>
        <p:blipFill>
          <a:blip r:embed="rId3">
            <a:alphaModFix/>
          </a:blip>
          <a:stretch>
            <a:fillRect/>
          </a:stretch>
        </p:blipFill>
        <p:spPr>
          <a:xfrm>
            <a:off x="395838" y="2827000"/>
            <a:ext cx="7839075" cy="13525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76"/>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Preparing Data for Named-Entity Recognition</a:t>
            </a:r>
            <a:endParaRPr>
              <a:highlight>
                <a:schemeClr val="lt1"/>
              </a:highlight>
            </a:endParaRPr>
          </a:p>
        </p:txBody>
      </p:sp>
      <p:sp>
        <p:nvSpPr>
          <p:cNvPr id="477" name="Google Shape;477;p76"/>
          <p:cNvSpPr txBox="1"/>
          <p:nvPr>
            <p:ph idx="1" type="body"/>
          </p:nvPr>
        </p:nvSpPr>
        <p:spPr>
          <a:xfrm>
            <a:off x="0" y="595675"/>
            <a:ext cx="8998200" cy="4496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200"/>
              </a:spcBef>
              <a:spcAft>
                <a:spcPts val="0"/>
              </a:spcAft>
              <a:buSzPts val="1100"/>
              <a:buNone/>
            </a:pPr>
            <a:r>
              <a:rPr lang="en-GB" sz="2235"/>
              <a:t>Now that we have tokenized and aligned the labels, we can start thinking about defining our evaluation metrics</a:t>
            </a:r>
            <a:endParaRPr sz="2235"/>
          </a:p>
          <a:p>
            <a:pPr indent="0" lvl="0" marL="0" rtl="0" algn="l">
              <a:lnSpc>
                <a:spcPct val="90000"/>
              </a:lnSpc>
              <a:spcBef>
                <a:spcPts val="1200"/>
              </a:spcBef>
              <a:spcAft>
                <a:spcPts val="0"/>
              </a:spcAft>
              <a:buSzPts val="1100"/>
              <a:buNone/>
            </a:pPr>
            <a:r>
              <a:rPr lang="en-GB" sz="2235"/>
              <a:t>This is also different from what we have seen before.</a:t>
            </a:r>
            <a:endParaRPr sz="2235"/>
          </a:p>
          <a:p>
            <a:pPr indent="0" lvl="0" marL="0" rtl="0" algn="l">
              <a:lnSpc>
                <a:spcPct val="90000"/>
              </a:lnSpc>
              <a:spcBef>
                <a:spcPts val="1200"/>
              </a:spcBef>
              <a:spcAft>
                <a:spcPts val="0"/>
              </a:spcAft>
              <a:buSzPts val="1100"/>
              <a:buNone/>
            </a:pPr>
            <a:r>
              <a:rPr lang="en-GB" sz="2235"/>
              <a:t>Instead of a single prediction per document, we now have multiple predictions per document, namely per token</a:t>
            </a:r>
            <a:endParaRPr sz="2235"/>
          </a:p>
          <a:p>
            <a:pPr indent="0" lvl="0" marL="0" rtl="0" algn="l">
              <a:lnSpc>
                <a:spcPct val="90000"/>
              </a:lnSpc>
              <a:spcBef>
                <a:spcPts val="1200"/>
              </a:spcBef>
              <a:spcAft>
                <a:spcPts val="0"/>
              </a:spcAft>
              <a:buSzPts val="1100"/>
              <a:buNone/>
            </a:pPr>
            <a:r>
              <a:t/>
            </a:r>
            <a:endParaRPr sz="2235"/>
          </a:p>
          <a:p>
            <a:pPr indent="0" lvl="0" marL="0" rtl="0" algn="l">
              <a:lnSpc>
                <a:spcPct val="90000"/>
              </a:lnSpc>
              <a:spcBef>
                <a:spcPts val="1200"/>
              </a:spcBef>
              <a:spcAft>
                <a:spcPts val="0"/>
              </a:spcAft>
              <a:buSzPts val="1100"/>
              <a:buNone/>
            </a:pPr>
            <a:r>
              <a:rPr lang="en-GB" sz="2235"/>
              <a:t>We will make use of the </a:t>
            </a:r>
            <a:r>
              <a:rPr lang="en-GB" sz="2235">
                <a:solidFill>
                  <a:srgbClr val="188038"/>
                </a:solidFill>
                <a:latin typeface="Roboto Mono"/>
                <a:ea typeface="Roboto Mono"/>
                <a:cs typeface="Roboto Mono"/>
                <a:sym typeface="Roboto Mono"/>
              </a:rPr>
              <a:t>evaluate</a:t>
            </a:r>
            <a:r>
              <a:rPr lang="en-GB" sz="2235"/>
              <a:t> package by Hugging Face to create a </a:t>
            </a:r>
            <a:r>
              <a:rPr lang="en-GB" sz="2235">
                <a:solidFill>
                  <a:srgbClr val="188038"/>
                </a:solidFill>
                <a:latin typeface="Roboto Mono"/>
                <a:ea typeface="Roboto Mono"/>
                <a:cs typeface="Roboto Mono"/>
                <a:sym typeface="Roboto Mono"/>
              </a:rPr>
              <a:t>compute_metrics</a:t>
            </a:r>
            <a:r>
              <a:rPr lang="en-GB" sz="2235"/>
              <a:t> function that allows us to evaluate performance on a token level (not included for brevity, see book/notes)</a:t>
            </a:r>
            <a:endParaRPr sz="2235"/>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77"/>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Fine-Tuning for Named-Entity Recognition</a:t>
            </a:r>
            <a:endParaRPr>
              <a:highlight>
                <a:schemeClr val="lt1"/>
              </a:highlight>
            </a:endParaRPr>
          </a:p>
        </p:txBody>
      </p:sp>
      <p:sp>
        <p:nvSpPr>
          <p:cNvPr id="483" name="Google Shape;483;p77"/>
          <p:cNvSpPr txBox="1"/>
          <p:nvPr>
            <p:ph idx="1" type="body"/>
          </p:nvPr>
        </p:nvSpPr>
        <p:spPr>
          <a:xfrm>
            <a:off x="0" y="595675"/>
            <a:ext cx="8998200" cy="1406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200"/>
              </a:spcBef>
              <a:spcAft>
                <a:spcPts val="0"/>
              </a:spcAft>
              <a:buSzPts val="1100"/>
              <a:buNone/>
            </a:pPr>
            <a:r>
              <a:rPr lang="en-GB" sz="2235"/>
              <a:t>Instead of DataCollatorWithPadding , we need a collator that works with classification on a token level, namely </a:t>
            </a:r>
            <a:r>
              <a:rPr lang="en-GB" sz="2235">
                <a:solidFill>
                  <a:srgbClr val="188038"/>
                </a:solidFill>
                <a:latin typeface="Roboto Mono"/>
                <a:ea typeface="Roboto Mono"/>
                <a:cs typeface="Roboto Mono"/>
                <a:sym typeface="Roboto Mono"/>
              </a:rPr>
              <a:t>DataCollatorForTokenClassification</a:t>
            </a:r>
            <a:r>
              <a:rPr lang="en-GB" sz="2235"/>
              <a:t> :</a:t>
            </a:r>
            <a:endParaRPr sz="2235"/>
          </a:p>
          <a:p>
            <a:pPr indent="0" lvl="0" marL="0" rtl="0" algn="l">
              <a:lnSpc>
                <a:spcPct val="90000"/>
              </a:lnSpc>
              <a:spcBef>
                <a:spcPts val="1200"/>
              </a:spcBef>
              <a:spcAft>
                <a:spcPts val="0"/>
              </a:spcAft>
              <a:buSzPts val="1100"/>
              <a:buNone/>
            </a:pPr>
            <a:r>
              <a:t/>
            </a:r>
            <a:endParaRPr sz="2235"/>
          </a:p>
        </p:txBody>
      </p:sp>
      <p:pic>
        <p:nvPicPr>
          <p:cNvPr id="484" name="Google Shape;484;p77"/>
          <p:cNvPicPr preferRelativeResize="0"/>
          <p:nvPr/>
        </p:nvPicPr>
        <p:blipFill>
          <a:blip r:embed="rId3">
            <a:alphaModFix/>
          </a:blip>
          <a:stretch>
            <a:fillRect/>
          </a:stretch>
        </p:blipFill>
        <p:spPr>
          <a:xfrm>
            <a:off x="272238" y="1857450"/>
            <a:ext cx="7839075" cy="1352550"/>
          </a:xfrm>
          <a:prstGeom prst="rect">
            <a:avLst/>
          </a:prstGeom>
          <a:noFill/>
          <a:ln>
            <a:noFill/>
          </a:ln>
        </p:spPr>
      </p:pic>
      <p:sp>
        <p:nvSpPr>
          <p:cNvPr id="485" name="Google Shape;485;p77"/>
          <p:cNvSpPr txBox="1"/>
          <p:nvPr>
            <p:ph idx="1" type="body"/>
          </p:nvPr>
        </p:nvSpPr>
        <p:spPr>
          <a:xfrm>
            <a:off x="104550" y="3371525"/>
            <a:ext cx="8998200" cy="1406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200"/>
              </a:spcBef>
              <a:spcAft>
                <a:spcPts val="0"/>
              </a:spcAft>
              <a:buSzPts val="1100"/>
              <a:buNone/>
            </a:pPr>
            <a:r>
              <a:rPr lang="en-GB" sz="2235"/>
              <a:t>Now that we have loaded our model, the rest of the steps are similar to previous training procedures in this chapter.</a:t>
            </a:r>
            <a:endParaRPr sz="2235"/>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78"/>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Fine-Tuning for Named-Entity Recognition</a:t>
            </a:r>
            <a:endParaRPr>
              <a:highlight>
                <a:schemeClr val="lt1"/>
              </a:highlight>
            </a:endParaRPr>
          </a:p>
        </p:txBody>
      </p:sp>
      <p:sp>
        <p:nvSpPr>
          <p:cNvPr id="491" name="Google Shape;491;p78"/>
          <p:cNvSpPr txBox="1"/>
          <p:nvPr>
            <p:ph idx="1" type="body"/>
          </p:nvPr>
        </p:nvSpPr>
        <p:spPr>
          <a:xfrm>
            <a:off x="0" y="595675"/>
            <a:ext cx="4274100" cy="43959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200"/>
              </a:spcBef>
              <a:spcAft>
                <a:spcPts val="0"/>
              </a:spcAft>
              <a:buSzPts val="1100"/>
              <a:buNone/>
            </a:pPr>
            <a:r>
              <a:rPr lang="en-GB" sz="2235"/>
              <a:t>We define a trainer with specific arguments that we can tune and create a </a:t>
            </a:r>
            <a:r>
              <a:rPr lang="en-GB" sz="2235">
                <a:solidFill>
                  <a:srgbClr val="188038"/>
                </a:solidFill>
                <a:latin typeface="Roboto Mono"/>
                <a:ea typeface="Roboto Mono"/>
                <a:cs typeface="Roboto Mono"/>
                <a:sym typeface="Roboto Mono"/>
              </a:rPr>
              <a:t>Trainer</a:t>
            </a:r>
            <a:r>
              <a:rPr lang="en-GB" sz="2235"/>
              <a:t>:</a:t>
            </a:r>
            <a:endParaRPr sz="2235"/>
          </a:p>
          <a:p>
            <a:pPr indent="0" lvl="0" marL="0" rtl="0" algn="l">
              <a:lnSpc>
                <a:spcPct val="90000"/>
              </a:lnSpc>
              <a:spcBef>
                <a:spcPts val="1200"/>
              </a:spcBef>
              <a:spcAft>
                <a:spcPts val="0"/>
              </a:spcAft>
              <a:buSzPts val="1100"/>
              <a:buNone/>
            </a:pPr>
            <a:r>
              <a:t/>
            </a:r>
            <a:endParaRPr sz="2235"/>
          </a:p>
        </p:txBody>
      </p:sp>
      <p:pic>
        <p:nvPicPr>
          <p:cNvPr id="492" name="Google Shape;492;p78"/>
          <p:cNvPicPr preferRelativeResize="0"/>
          <p:nvPr/>
        </p:nvPicPr>
        <p:blipFill>
          <a:blip r:embed="rId3">
            <a:alphaModFix/>
          </a:blip>
          <a:stretch>
            <a:fillRect/>
          </a:stretch>
        </p:blipFill>
        <p:spPr>
          <a:xfrm>
            <a:off x="4638550" y="595675"/>
            <a:ext cx="4008025" cy="4076476"/>
          </a:xfrm>
          <a:prstGeom prst="rect">
            <a:avLst/>
          </a:prstGeom>
          <a:noFill/>
          <a:ln>
            <a:noFill/>
          </a:ln>
        </p:spPr>
      </p:pic>
      <p:pic>
        <p:nvPicPr>
          <p:cNvPr id="493" name="Google Shape;493;p78"/>
          <p:cNvPicPr preferRelativeResize="0"/>
          <p:nvPr/>
        </p:nvPicPr>
        <p:blipFill>
          <a:blip r:embed="rId4">
            <a:alphaModFix/>
          </a:blip>
          <a:stretch>
            <a:fillRect/>
          </a:stretch>
        </p:blipFill>
        <p:spPr>
          <a:xfrm>
            <a:off x="4638562" y="4558125"/>
            <a:ext cx="4228688" cy="4333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79"/>
          <p:cNvSpPr txBox="1"/>
          <p:nvPr>
            <p:ph type="title"/>
          </p:nvPr>
        </p:nvSpPr>
        <p:spPr>
          <a:xfrm>
            <a:off x="104550" y="100575"/>
            <a:ext cx="8998200" cy="75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GB">
                <a:highlight>
                  <a:schemeClr val="lt1"/>
                </a:highlight>
              </a:rPr>
              <a:t>Fine-Tuning for Named-Entity Recognition</a:t>
            </a:r>
            <a:endParaRPr>
              <a:highlight>
                <a:schemeClr val="lt1"/>
              </a:highlight>
            </a:endParaRPr>
          </a:p>
        </p:txBody>
      </p:sp>
      <p:sp>
        <p:nvSpPr>
          <p:cNvPr id="499" name="Google Shape;499;p79"/>
          <p:cNvSpPr txBox="1"/>
          <p:nvPr>
            <p:ph idx="1" type="body"/>
          </p:nvPr>
        </p:nvSpPr>
        <p:spPr>
          <a:xfrm>
            <a:off x="0" y="595675"/>
            <a:ext cx="3969900" cy="43959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1200"/>
              </a:spcBef>
              <a:spcAft>
                <a:spcPts val="0"/>
              </a:spcAft>
              <a:buSzPts val="1100"/>
              <a:buNone/>
            </a:pPr>
            <a:r>
              <a:rPr lang="en-GB" sz="2235"/>
              <a:t>Lastly, let’s save the model and use it in a pipeline for inference.</a:t>
            </a:r>
            <a:endParaRPr sz="2235"/>
          </a:p>
          <a:p>
            <a:pPr indent="0" lvl="0" marL="0" rtl="0" algn="l">
              <a:lnSpc>
                <a:spcPct val="90000"/>
              </a:lnSpc>
              <a:spcBef>
                <a:spcPts val="1200"/>
              </a:spcBef>
              <a:spcAft>
                <a:spcPts val="0"/>
              </a:spcAft>
              <a:buSzPts val="1100"/>
              <a:buNone/>
            </a:pPr>
            <a:r>
              <a:t/>
            </a:r>
            <a:endParaRPr sz="2235"/>
          </a:p>
          <a:p>
            <a:pPr indent="0" lvl="0" marL="0" rtl="0" algn="l">
              <a:lnSpc>
                <a:spcPct val="90000"/>
              </a:lnSpc>
              <a:spcBef>
                <a:spcPts val="1200"/>
              </a:spcBef>
              <a:spcAft>
                <a:spcPts val="0"/>
              </a:spcAft>
              <a:buSzPts val="1100"/>
              <a:buNone/>
            </a:pPr>
            <a:r>
              <a:rPr lang="en-GB" sz="2235"/>
              <a:t>In the sentence "My name is Maarten", the word "Maarten" and its subtokens were correctly identified as a person</a:t>
            </a:r>
            <a:endParaRPr sz="2235"/>
          </a:p>
          <a:p>
            <a:pPr indent="0" lvl="0" marL="0" rtl="0" algn="l">
              <a:lnSpc>
                <a:spcPct val="90000"/>
              </a:lnSpc>
              <a:spcBef>
                <a:spcPts val="1200"/>
              </a:spcBef>
              <a:spcAft>
                <a:spcPts val="0"/>
              </a:spcAft>
              <a:buSzPts val="1100"/>
              <a:buNone/>
            </a:pPr>
            <a:r>
              <a:t/>
            </a:r>
            <a:endParaRPr sz="2235"/>
          </a:p>
        </p:txBody>
      </p:sp>
      <p:pic>
        <p:nvPicPr>
          <p:cNvPr id="500" name="Google Shape;500;p79"/>
          <p:cNvPicPr preferRelativeResize="0"/>
          <p:nvPr/>
        </p:nvPicPr>
        <p:blipFill>
          <a:blip r:embed="rId3">
            <a:alphaModFix/>
          </a:blip>
          <a:stretch>
            <a:fillRect/>
          </a:stretch>
        </p:blipFill>
        <p:spPr>
          <a:xfrm>
            <a:off x="4169625" y="660325"/>
            <a:ext cx="4837797" cy="43959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80"/>
          <p:cNvSpPr txBox="1"/>
          <p:nvPr>
            <p:ph type="title"/>
          </p:nvPr>
        </p:nvSpPr>
        <p:spPr>
          <a:xfrm>
            <a:off x="3969300" y="2247000"/>
            <a:ext cx="1205400" cy="64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400"/>
              </a:spcAft>
              <a:buSzPts val="1100"/>
              <a:buNone/>
            </a:pPr>
            <a:r>
              <a:rPr lang="en-GB">
                <a:highlight>
                  <a:schemeClr val="lt1"/>
                </a:highlight>
              </a:rPr>
              <a:t>END</a:t>
            </a:r>
            <a:endParaRPr>
              <a:highlight>
                <a:schemeClr val="lt1"/>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