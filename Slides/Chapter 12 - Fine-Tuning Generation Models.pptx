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5143500" cx="9144000"/>
  <p:notesSz cx="6858000" cy="9144000"/>
  <p:embeddedFontLst>
    <p:embeddedFont>
      <p:font typeface="Raleway"/>
      <p:regular r:id="rId58"/>
      <p:bold r:id="rId59"/>
      <p:italic r:id="rId60"/>
      <p:boldItalic r:id="rId61"/>
    </p:embeddedFont>
    <p:embeddedFont>
      <p:font typeface="Lato"/>
      <p:regular r:id="rId62"/>
      <p:bold r:id="rId63"/>
      <p:italic r:id="rId64"/>
      <p:boldItalic r:id="rId65"/>
    </p:embeddedFont>
    <p:embeddedFont>
      <p:font typeface="Roboto Mono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Lato-regular.fntdata"/><Relationship Id="rId61" Type="http://schemas.openxmlformats.org/officeDocument/2006/relationships/font" Target="fonts/Raleway-boldItalic.fntdata"/><Relationship Id="rId20" Type="http://schemas.openxmlformats.org/officeDocument/2006/relationships/slide" Target="slides/slide14.xml"/><Relationship Id="rId64" Type="http://schemas.openxmlformats.org/officeDocument/2006/relationships/font" Target="fonts/Lato-italic.fntdata"/><Relationship Id="rId63" Type="http://schemas.openxmlformats.org/officeDocument/2006/relationships/font" Target="fonts/Lato-bold.fntdata"/><Relationship Id="rId22" Type="http://schemas.openxmlformats.org/officeDocument/2006/relationships/slide" Target="slides/slide16.xml"/><Relationship Id="rId66" Type="http://schemas.openxmlformats.org/officeDocument/2006/relationships/font" Target="fonts/RobotoMono-regular.fntdata"/><Relationship Id="rId21" Type="http://schemas.openxmlformats.org/officeDocument/2006/relationships/slide" Target="slides/slide15.xml"/><Relationship Id="rId65" Type="http://schemas.openxmlformats.org/officeDocument/2006/relationships/font" Target="fonts/Lato-boldItalic.fntdata"/><Relationship Id="rId24" Type="http://schemas.openxmlformats.org/officeDocument/2006/relationships/slide" Target="slides/slide18.xml"/><Relationship Id="rId68" Type="http://schemas.openxmlformats.org/officeDocument/2006/relationships/font" Target="fonts/RobotoMono-italic.fntdata"/><Relationship Id="rId23" Type="http://schemas.openxmlformats.org/officeDocument/2006/relationships/slide" Target="slides/slide17.xml"/><Relationship Id="rId67" Type="http://schemas.openxmlformats.org/officeDocument/2006/relationships/font" Target="fonts/RobotoMono-bold.fntdata"/><Relationship Id="rId60" Type="http://schemas.openxmlformats.org/officeDocument/2006/relationships/font" Target="fonts/Raleway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Mon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aleway-bold.fntdata"/><Relationship Id="rId14" Type="http://schemas.openxmlformats.org/officeDocument/2006/relationships/slide" Target="slides/slide8.xml"/><Relationship Id="rId58" Type="http://schemas.openxmlformats.org/officeDocument/2006/relationships/font" Target="fonts/Raleway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975018c79_2_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8975018c79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975018c79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8975018c79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efa9db7e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aefa9db7e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fa9db7e9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efa9db7e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fa9db7e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aefa9db7e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fa9db7e9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aefa9db7e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fa9db7e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aefa9db7e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fa9db7e9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aefa9db7e9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efa9db7e9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aefa9db7e9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efa9db7e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aefa9db7e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efa9db7e9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aefa9db7e9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efa9db7e9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aefa9db7e9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efa9db7e9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aefa9db7e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efa9db7e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aefa9db7e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efa9db7e9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aefa9db7e9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efa9db7e9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aefa9db7e9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efa9db7e9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aefa9db7e9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efa9db7e9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aefa9db7e9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efa9db7e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aefa9db7e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efa9db7e9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aefa9db7e9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efa9db7e9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aefa9db7e9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efa9db7e9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aefa9db7e9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efa9db7e9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aefa9db7e9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efa9db7e9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aefa9db7e9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efa9db7e9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aefa9db7e9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efa9db7e9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aefa9db7e9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efa9db7e9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aefa9db7e9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efa9db7e9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aefa9db7e9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f31c42d6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af31c42d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f31c42d6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af31c42d6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f31c42d6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af31c42d6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f31c42d6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af31c42d6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f31c42d6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af31c42d6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f31c42d6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af31c42d6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f31c42d6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af31c42d6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f31c42d6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af31c42d6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f31c42d6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af31c42d6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f31c42d6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af31c42d6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f31c42d6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af31c42d6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f31c42d6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af31c42d6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f31c42d6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af31c42d6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f31c42d6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af31c42d6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f31c42d6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af31c42d6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f31c42d6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af31c42d6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f31c42d63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af31c42d6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f31c42d6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af31c42d6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f31c42d63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af31c42d63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f31c42d63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af31c42d63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f31c42d63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af31c42d6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f31c42d63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af31c42d63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8975018c79_2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8975018c79_2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6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6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7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7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9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20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21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2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2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3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5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ctrTitle"/>
          </p:nvPr>
        </p:nvSpPr>
        <p:spPr>
          <a:xfrm>
            <a:off x="2371725" y="630225"/>
            <a:ext cx="6331500" cy="23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Chapter 12 - Fine-Tuning Generation Models</a:t>
            </a:r>
            <a:endParaRPr/>
          </a:p>
        </p:txBody>
      </p:sp>
      <p:sp>
        <p:nvSpPr>
          <p:cNvPr id="122" name="Google Shape;122;p26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From the book Hands-On Large Language Models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The Three LLM Training Steps: Pretraining, Supervised Fine-Tuning, and Preference Tuning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8" name="Google Shape;128;p27"/>
          <p:cNvSpPr txBox="1"/>
          <p:nvPr>
            <p:ph idx="1" type="body"/>
          </p:nvPr>
        </p:nvSpPr>
        <p:spPr>
          <a:xfrm>
            <a:off x="221475" y="1256700"/>
            <a:ext cx="8522700" cy="18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Language Modeling (Pretraining)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Fine-tuning 1 (Supervised Fine-Tuning)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Fine-tuning 2 (Preference Tuning)</a:t>
            </a:r>
            <a:endParaRPr b="1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The Three LLM Training Steps: Pretraining, Supervised Fine-Tuning, and Preference Tuning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4" name="Google Shape;134;p28"/>
          <p:cNvSpPr txBox="1"/>
          <p:nvPr>
            <p:ph idx="1" type="body"/>
          </p:nvPr>
        </p:nvSpPr>
        <p:spPr>
          <a:xfrm>
            <a:off x="66450" y="1100175"/>
            <a:ext cx="8934300" cy="3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Language Modeling (Pretraining)</a:t>
            </a:r>
            <a:endParaRPr b="1"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The first step in creating a high-quality LLM is to pretrain it on one or more massive text datasets. As we saw before in Chapters 3 and 11, this is called language modeling and is a s</a:t>
            </a:r>
            <a:r>
              <a:rPr b="1" lang="en-GB" sz="2200"/>
              <a:t>elf-supervised</a:t>
            </a:r>
            <a:r>
              <a:rPr lang="en-GB" sz="2200"/>
              <a:t> method. This produces a </a:t>
            </a:r>
            <a:r>
              <a:rPr b="1" lang="en-GB" sz="2200"/>
              <a:t>base model.</a:t>
            </a:r>
            <a:endParaRPr b="1"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135" name="Google Shape;1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200" y="2866000"/>
            <a:ext cx="5662012" cy="20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The Three LLM Training Steps: Pretraining, Supervised Fine-Tuning, and Preference Tuning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66450" y="1100175"/>
            <a:ext cx="8934300" cy="3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Fine-tuning 1 (Supervised Fine-Tuning)</a:t>
            </a:r>
            <a:endParaRPr b="1"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With </a:t>
            </a:r>
            <a:r>
              <a:rPr b="1" lang="en-GB" sz="2200"/>
              <a:t>supervised fine-tuning (SFT)</a:t>
            </a:r>
            <a:r>
              <a:rPr lang="en-GB" sz="2200"/>
              <a:t>, we can adapt the base model to follow instructions. Like a pretrained model, it is trained using next-token prediction but </a:t>
            </a:r>
            <a:r>
              <a:rPr b="1" i="1" lang="en-GB" sz="2200"/>
              <a:t>instead of only predicting the next token, it does so based on a user input.</a:t>
            </a:r>
            <a:endParaRPr b="1" i="1"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625" y="2867100"/>
            <a:ext cx="6004650" cy="222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The Three LLM Training Steps: Pretraining, Supervised Fine-Tuning, and Preference Tuning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66450" y="1100175"/>
            <a:ext cx="8934300" cy="3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Fine-tuning 2 (Preference Tuning)</a:t>
            </a:r>
            <a:endParaRPr b="1"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The final step further improves the quality of the model and makes it more aligned with the </a:t>
            </a:r>
            <a:r>
              <a:rPr b="1" lang="en-GB" sz="2200"/>
              <a:t>expected behavior of AI safety or human preferences.</a:t>
            </a:r>
            <a:endParaRPr b="1" i="1"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149" name="Google Shape;14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475" y="2701588"/>
            <a:ext cx="7753350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Supervised Fine-Tuning (SFT)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55" name="Google Shape;155;p31"/>
          <p:cNvSpPr txBox="1"/>
          <p:nvPr>
            <p:ph idx="1" type="body"/>
          </p:nvPr>
        </p:nvSpPr>
        <p:spPr>
          <a:xfrm>
            <a:off x="66450" y="627625"/>
            <a:ext cx="8934300" cy="4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purpose of pretraining a model on large datasets is that it is able to reproduce language and its meaning.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model learns to complete input phrases as shown below.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model was not trained to follow instructions and instead will attempt to complete a question rather than answer it.</a:t>
            </a:r>
            <a:endParaRPr sz="2200"/>
          </a:p>
        </p:txBody>
      </p:sp>
      <p:pic>
        <p:nvPicPr>
          <p:cNvPr id="156" name="Google Shape;1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225" y="2616050"/>
            <a:ext cx="7011476" cy="23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Full Fine-Tuning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62" name="Google Shape;162;p32"/>
          <p:cNvSpPr txBox="1"/>
          <p:nvPr>
            <p:ph idx="1" type="body"/>
          </p:nvPr>
        </p:nvSpPr>
        <p:spPr>
          <a:xfrm>
            <a:off x="66450" y="568550"/>
            <a:ext cx="45057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To make the model answer questions instead of completing it, it needs supervised fine-tuning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most common fine-tuning process is </a:t>
            </a:r>
            <a:r>
              <a:rPr b="1" lang="en-GB" sz="2200"/>
              <a:t>full fine-tuning</a:t>
            </a:r>
            <a:r>
              <a:rPr lang="en-GB" sz="2200"/>
              <a:t>.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Like pretraining an LLM, this involves </a:t>
            </a:r>
            <a:r>
              <a:rPr b="1" lang="en-GB" sz="2200"/>
              <a:t>updating all parameters of a model </a:t>
            </a:r>
            <a:r>
              <a:rPr lang="en-GB" sz="2200"/>
              <a:t>to be in line with your target task.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63" name="Google Shape;1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21550"/>
            <a:ext cx="4473050" cy="26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Full Fine-Tuning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66450" y="568550"/>
            <a:ext cx="45057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To make the model answer questions instead of completing it, it needs supervised fine-tuning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most common fine-tuning process is </a:t>
            </a:r>
            <a:r>
              <a:rPr b="1" lang="en-GB" sz="2200"/>
              <a:t>full fine-tuning</a:t>
            </a:r>
            <a:r>
              <a:rPr lang="en-GB" sz="2200"/>
              <a:t>.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Like pretraining an LLM, this involves </a:t>
            </a:r>
            <a:r>
              <a:rPr b="1" lang="en-GB" sz="2200"/>
              <a:t>updating all parameters of a model </a:t>
            </a:r>
            <a:r>
              <a:rPr lang="en-GB" sz="2200"/>
              <a:t>to be in line with your target task.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70" name="Google Shape;1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21550"/>
            <a:ext cx="4473050" cy="26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Full Fine-Tuning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66450" y="568550"/>
            <a:ext cx="45057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To make our LLM follow instructions, we will need </a:t>
            </a:r>
            <a:r>
              <a:rPr b="1" lang="en-GB" sz="2200"/>
              <a:t>question-response data.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During full fine-tuning, the model takes the input (</a:t>
            </a:r>
            <a:r>
              <a:rPr b="1" lang="en-GB" sz="2200"/>
              <a:t>instructions</a:t>
            </a:r>
            <a:r>
              <a:rPr lang="en-GB" sz="2200"/>
              <a:t>) and applies next-token prediction on the output (</a:t>
            </a:r>
            <a:r>
              <a:rPr b="1" lang="en-GB" sz="2200"/>
              <a:t>response</a:t>
            </a:r>
            <a:r>
              <a:rPr lang="en-GB" sz="2200"/>
              <a:t>).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Instead of generating new questions, it will follow instructions.</a:t>
            </a:r>
            <a:endParaRPr sz="2200"/>
          </a:p>
        </p:txBody>
      </p:sp>
      <p:pic>
        <p:nvPicPr>
          <p:cNvPr id="177" name="Google Shape;1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650" y="809400"/>
            <a:ext cx="4594700" cy="35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Parameter-Efficient Fine-Tuning (PEFT)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66450" y="568550"/>
            <a:ext cx="89787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Updating all parameters of a model has a large potential of increasing its performance but comes with several disadvantages: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It is costly to train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Has slow training times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Requires significant storage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To resolve address these, attention has been given to </a:t>
            </a:r>
            <a:r>
              <a:rPr b="1" lang="en-GB" sz="2200"/>
              <a:t>parameter-efficient fine-tuning (PEFT)</a:t>
            </a:r>
            <a:r>
              <a:rPr lang="en-GB" sz="2200"/>
              <a:t> alternatives that focus on fine-tuning pretrained models at higher computational efficiency.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Adapters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66450" y="568550"/>
            <a:ext cx="89787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The method proposes a set of </a:t>
            </a:r>
            <a:r>
              <a:rPr b="1" lang="en-GB" sz="2200"/>
              <a:t>additional modular components</a:t>
            </a:r>
            <a:r>
              <a:rPr lang="en-GB" sz="2200"/>
              <a:t> inside the Transformer that can be </a:t>
            </a:r>
            <a:r>
              <a:rPr b="1" lang="en-GB" sz="2200"/>
              <a:t>fine-tuned to improve the model's performance on a specific task without having to fine-tune all the model weights.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It is costly to train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Has slow training times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Requires significant storage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To resolve address these, attention has been given to </a:t>
            </a:r>
            <a:r>
              <a:rPr b="1" lang="en-GB" sz="2200"/>
              <a:t>parameter-efficient fine-tuning (PEFT)</a:t>
            </a:r>
            <a:r>
              <a:rPr lang="en-GB" sz="2200"/>
              <a:t> alternatives that focus on fine-tuning pretrained models at higher computational efficiency.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Adapters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95" name="Google Shape;195;p37"/>
          <p:cNvSpPr txBox="1"/>
          <p:nvPr>
            <p:ph idx="1" type="body"/>
          </p:nvPr>
        </p:nvSpPr>
        <p:spPr>
          <a:xfrm>
            <a:off x="66450" y="568550"/>
            <a:ext cx="48585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Adapters are described in the paper </a:t>
            </a:r>
            <a:r>
              <a:rPr i="1" lang="en-GB" sz="2200"/>
              <a:t>"Parameter-efficient transfer learning for NLP"</a:t>
            </a:r>
            <a:endParaRPr b="1" i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It showed that fine-tuning </a:t>
            </a:r>
            <a:r>
              <a:rPr b="1" lang="en-GB" sz="2200"/>
              <a:t>3.6%</a:t>
            </a:r>
            <a:r>
              <a:rPr lang="en-GB" sz="2200"/>
              <a:t> </a:t>
            </a:r>
            <a:r>
              <a:rPr b="1" lang="en-GB" sz="2200"/>
              <a:t>of the parameters of BERT</a:t>
            </a:r>
            <a:r>
              <a:rPr lang="en-GB" sz="2200"/>
              <a:t> for a task can yield comparable performance to fine-tuning all the model's weights.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paper's proposed architecture places adapters after the attention layer and the feedforward neural network</a:t>
            </a:r>
            <a:endParaRPr sz="2200"/>
          </a:p>
        </p:txBody>
      </p:sp>
      <p:pic>
        <p:nvPicPr>
          <p:cNvPr id="196" name="Google Shape;19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525" y="425575"/>
            <a:ext cx="4041525" cy="4142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Adapters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02" name="Google Shape;202;p38"/>
          <p:cNvSpPr txBox="1"/>
          <p:nvPr>
            <p:ph idx="1" type="body"/>
          </p:nvPr>
        </p:nvSpPr>
        <p:spPr>
          <a:xfrm>
            <a:off x="66450" y="568550"/>
            <a:ext cx="48585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It's not enough to only change one Transformer block, so these components are part of every block in the model.</a:t>
            </a:r>
            <a:endParaRPr b="1" i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Seeing all the adapter's components across the model like this enables us to see individual adapters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>
                <a:highlight>
                  <a:schemeClr val="lt1"/>
                </a:highlight>
              </a:rPr>
              <a:t>Adapter 1 can be a specialist in, say, medical text classification, while Adapter 2 can specialize in named-entity recognition (NER)</a:t>
            </a:r>
            <a:endParaRPr sz="2200">
              <a:highlight>
                <a:schemeClr val="lt1"/>
              </a:highlight>
            </a:endParaRPr>
          </a:p>
        </p:txBody>
      </p:sp>
      <p:pic>
        <p:nvPicPr>
          <p:cNvPr id="203" name="Google Shape;2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1225" y="130250"/>
            <a:ext cx="3712011" cy="476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Low-Rank Adaptation (LoRA)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09" name="Google Shape;209;p39"/>
          <p:cNvSpPr txBox="1"/>
          <p:nvPr>
            <p:ph idx="1" type="body"/>
          </p:nvPr>
        </p:nvSpPr>
        <p:spPr>
          <a:xfrm>
            <a:off x="66450" y="568550"/>
            <a:ext cx="3854400" cy="4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As an alternative to adapters, </a:t>
            </a:r>
            <a:r>
              <a:rPr b="1" lang="en-GB" sz="2200"/>
              <a:t>low-rank adaptation (LoRA) </a:t>
            </a:r>
            <a:r>
              <a:rPr lang="en-GB" sz="2200"/>
              <a:t>was introduced and is at the time of writing a widely used and effective technique for </a:t>
            </a:r>
            <a:r>
              <a:rPr b="1" lang="en-GB" sz="2200"/>
              <a:t>PEFT</a:t>
            </a:r>
            <a:endParaRPr b="1" i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LoRA</a:t>
            </a:r>
            <a:r>
              <a:rPr lang="en-GB" sz="2200"/>
              <a:t> is a technique that (like adapters) </a:t>
            </a:r>
            <a:r>
              <a:rPr b="1" lang="en-GB" sz="2200"/>
              <a:t>only requires updating a small set of parameters.</a:t>
            </a:r>
            <a:endParaRPr sz="2200">
              <a:highlight>
                <a:schemeClr val="lt1"/>
              </a:highlight>
            </a:endParaRPr>
          </a:p>
        </p:txBody>
      </p:sp>
      <p:pic>
        <p:nvPicPr>
          <p:cNvPr id="210" name="Google Shape;2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796" y="1008200"/>
            <a:ext cx="5082250" cy="29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Low-Rank Adaptation (LoRA)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16" name="Google Shape;216;p40"/>
          <p:cNvSpPr txBox="1"/>
          <p:nvPr>
            <p:ph idx="1" type="body"/>
          </p:nvPr>
        </p:nvSpPr>
        <p:spPr>
          <a:xfrm>
            <a:off x="66450" y="716225"/>
            <a:ext cx="40167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approximate the LLM's large matrices with smaller ones.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Fine-tuning only these smaller matrices is much faster than training the original model.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17" name="Google Shape;21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000" y="942475"/>
            <a:ext cx="4756049" cy="3100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110750" y="100575"/>
            <a:ext cx="89343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Low-Rank Adaptation (LoRA)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66450" y="627625"/>
            <a:ext cx="8978700" cy="4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can use two smaller matrices, which when multiplied, build a 10 × 10 matrix.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now only have 20 weights (10 plus 10), instead of 100 (10 x ten)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24" name="Google Shape;22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00" y="1915822"/>
            <a:ext cx="5598326" cy="314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Compressing the Model for (More) Efficient Training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66450" y="967275"/>
            <a:ext cx="9037800" cy="4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can make LoRA even more efficient by reducing the memory requirements of the model's original weights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If we lower the amount of bits to represent a value, we get a less accurate result, but we also lower the memory requirements of that model.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31" name="Google Shape;2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225" y="2639925"/>
            <a:ext cx="5310124" cy="24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Compressing the Model for (More) Efficient Training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66450" y="967275"/>
            <a:ext cx="4356300" cy="4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With </a:t>
            </a:r>
            <a:r>
              <a:rPr b="1" lang="en-GB" sz="2200"/>
              <a:t>quantization</a:t>
            </a:r>
            <a:r>
              <a:rPr lang="en-GB" sz="2200"/>
              <a:t>, we aim to lower the number of bits while still accurately representing the original weight values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authors of </a:t>
            </a:r>
            <a:r>
              <a:rPr b="1" lang="en-GB" sz="2200"/>
              <a:t>QLoRA</a:t>
            </a:r>
            <a:r>
              <a:rPr lang="en-GB" sz="2200"/>
              <a:t>, </a:t>
            </a:r>
            <a:r>
              <a:rPr lang="en-GB" sz="2200"/>
              <a:t>found</a:t>
            </a:r>
            <a:r>
              <a:rPr lang="en-GB" sz="2200"/>
              <a:t> a way to go from a higher number of bits to a lower value and vice versa without differentiating too much from the original weights.</a:t>
            </a:r>
            <a:endParaRPr sz="2200"/>
          </a:p>
        </p:txBody>
      </p:sp>
      <p:pic>
        <p:nvPicPr>
          <p:cNvPr id="238" name="Google Shape;23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825" y="1425050"/>
            <a:ext cx="4584200" cy="23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Compressing the Model for (More) Efficient Training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44" name="Google Shape;244;p44"/>
          <p:cNvSpPr txBox="1"/>
          <p:nvPr>
            <p:ph idx="1" type="body"/>
          </p:nvPr>
        </p:nvSpPr>
        <p:spPr>
          <a:xfrm>
            <a:off x="66450" y="967275"/>
            <a:ext cx="4356300" cy="4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They used </a:t>
            </a:r>
            <a:r>
              <a:rPr b="1" lang="en-GB" sz="2200"/>
              <a:t>blockwise quantization</a:t>
            </a:r>
            <a:r>
              <a:rPr lang="en-GB" sz="2200"/>
              <a:t> to map certain blocks of higher precision values to lower precision values.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>
                <a:highlight>
                  <a:schemeClr val="lt1"/>
                </a:highlight>
              </a:rPr>
              <a:t>Instead of directly mapping higher precision to lower precision values, additional blocks are created that allow for quantizing similar weights.</a:t>
            </a:r>
            <a:endParaRPr sz="2200">
              <a:highlight>
                <a:schemeClr val="lt1"/>
              </a:highlight>
            </a:endParaRPr>
          </a:p>
        </p:txBody>
      </p:sp>
      <p:pic>
        <p:nvPicPr>
          <p:cNvPr id="245" name="Google Shape;24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800" y="1296875"/>
            <a:ext cx="4908400" cy="22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Compressing the Model for (More) Efficient Training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51" name="Google Shape;251;p45"/>
          <p:cNvSpPr txBox="1"/>
          <p:nvPr>
            <p:ph idx="1" type="body"/>
          </p:nvPr>
        </p:nvSpPr>
        <p:spPr>
          <a:xfrm>
            <a:off x="66450" y="967275"/>
            <a:ext cx="4356300" cy="4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 property of neural networks is that their values are generally </a:t>
            </a:r>
            <a:r>
              <a:rPr b="1" lang="en-GB" sz="2200"/>
              <a:t>normally distributed between –1 and 1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This allows us to bin the original weights to lower bits based on their relative density.</a:t>
            </a:r>
            <a:endParaRPr sz="2200"/>
          </a:p>
        </p:txBody>
      </p:sp>
      <p:pic>
        <p:nvPicPr>
          <p:cNvPr id="252" name="Google Shape;25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750" y="883900"/>
            <a:ext cx="4573576" cy="309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Compressing the Model for (More) Efficient Training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58" name="Google Shape;258;p46"/>
          <p:cNvSpPr txBox="1"/>
          <p:nvPr>
            <p:ph idx="1" type="body"/>
          </p:nvPr>
        </p:nvSpPr>
        <p:spPr>
          <a:xfrm>
            <a:off x="66450" y="1100175"/>
            <a:ext cx="8964000" cy="39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Normalization, combined with blockwise quantization, allows for accurate representation of high precision values by low precision values with only a small decrease in the LLM’s performance.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As a result we can go from a </a:t>
            </a:r>
            <a:r>
              <a:rPr b="1" lang="en-GB" sz="2200"/>
              <a:t>16-bit float representation</a:t>
            </a:r>
            <a:r>
              <a:rPr lang="en-GB" sz="2200"/>
              <a:t> to a </a:t>
            </a:r>
            <a:r>
              <a:rPr b="1" lang="en-GB" sz="2200"/>
              <a:t>4-bit normalized float representation</a:t>
            </a:r>
            <a:r>
              <a:rPr lang="en-GB" sz="2200"/>
              <a:t>.</a:t>
            </a:r>
            <a:endParaRPr sz="2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 Templating Instruction Data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64" name="Google Shape;264;p47"/>
          <p:cNvSpPr txBox="1"/>
          <p:nvPr>
            <p:ph idx="1" type="body"/>
          </p:nvPr>
        </p:nvSpPr>
        <p:spPr>
          <a:xfrm>
            <a:off x="66450" y="671925"/>
            <a:ext cx="4459800" cy="4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Now, we will fine-tune a completely open source and smaller version of Llama, </a:t>
            </a:r>
            <a:r>
              <a:rPr b="1" lang="en-GB" sz="2200"/>
              <a:t>TinyLlama</a:t>
            </a:r>
            <a:r>
              <a:rPr lang="en-GB" sz="2200"/>
              <a:t>, to follow instructions using the QLoRA procedure.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To have the LLM follow instructions, we will need to prepare instruction data that follows a </a:t>
            </a:r>
            <a:r>
              <a:rPr b="1" lang="en-GB" sz="2200"/>
              <a:t>chat template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65" name="Google Shape;26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475" y="1296875"/>
            <a:ext cx="4769499" cy="218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 Templating Instruction Data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71" name="Google Shape;271;p48"/>
          <p:cNvSpPr txBox="1"/>
          <p:nvPr>
            <p:ph idx="1" type="body"/>
          </p:nvPr>
        </p:nvSpPr>
        <p:spPr>
          <a:xfrm>
            <a:off x="66450" y="671925"/>
            <a:ext cx="9037800" cy="4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chose this chat template since the chat version of TinyLlama uses the same format.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template uses: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&lt;|user|&gt;</a:t>
            </a:r>
            <a:r>
              <a:rPr lang="en-GB" sz="2200"/>
              <a:t> - User context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-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&lt;/s&gt;</a:t>
            </a:r>
            <a:r>
              <a:rPr lang="en-GB" sz="2200"/>
              <a:t> - End-of-sequence token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&lt;|assistant|&gt;</a:t>
            </a:r>
            <a:r>
              <a:rPr lang="en-GB" sz="2200"/>
              <a:t> - Model's answer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data that we are using is a small subset of the </a:t>
            </a:r>
            <a:r>
              <a:rPr b="1" lang="en-GB" sz="2200"/>
              <a:t>UltraChat dataset.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 dataset that contains almost </a:t>
            </a:r>
            <a:r>
              <a:rPr b="1" lang="en-GB" sz="2200"/>
              <a:t>200k conversations between a user and an LLM</a:t>
            </a:r>
            <a:endParaRPr b="1"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9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 Templating Instruction Data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77" name="Google Shape;277;p49"/>
          <p:cNvSpPr txBox="1"/>
          <p:nvPr>
            <p:ph idx="1" type="body"/>
          </p:nvPr>
        </p:nvSpPr>
        <p:spPr>
          <a:xfrm>
            <a:off x="66450" y="671925"/>
            <a:ext cx="3750900" cy="4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create a function,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format_prompt</a:t>
            </a:r>
            <a:r>
              <a:rPr lang="en-GB" sz="2200"/>
              <a:t>, to make sure that the conversations follow this template: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78" name="Google Shape;27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300" y="782700"/>
            <a:ext cx="5130200" cy="393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 Templating Instruction Data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84" name="Google Shape;284;p50"/>
          <p:cNvSpPr txBox="1"/>
          <p:nvPr>
            <p:ph idx="1" type="body"/>
          </p:nvPr>
        </p:nvSpPr>
        <p:spPr>
          <a:xfrm>
            <a:off x="66450" y="671925"/>
            <a:ext cx="3750900" cy="4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Using the "text" column, we can explore these formatted prompts: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85" name="Google Shape;28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350" y="853850"/>
            <a:ext cx="5259576" cy="3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Model Quantization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91" name="Google Shape;291;p51"/>
          <p:cNvSpPr txBox="1"/>
          <p:nvPr>
            <p:ph idx="1" type="body"/>
          </p:nvPr>
        </p:nvSpPr>
        <p:spPr>
          <a:xfrm>
            <a:off x="66450" y="671925"/>
            <a:ext cx="4002000" cy="4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Now that we have our data, we can start loading in our model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This is where we apply the </a:t>
            </a:r>
            <a:r>
              <a:rPr b="1" lang="en-GB" sz="2200"/>
              <a:t>Q</a:t>
            </a:r>
            <a:r>
              <a:rPr lang="en-GB" sz="2200"/>
              <a:t> in </a:t>
            </a:r>
            <a:r>
              <a:rPr b="1" lang="en-GB" sz="2200"/>
              <a:t>QLoRA</a:t>
            </a:r>
            <a:r>
              <a:rPr lang="en-GB" sz="2200"/>
              <a:t> - </a:t>
            </a:r>
            <a:r>
              <a:rPr b="1" lang="en-GB" sz="2200"/>
              <a:t>quantization</a:t>
            </a:r>
            <a:r>
              <a:rPr lang="en-GB" sz="2200"/>
              <a:t>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use the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bitsandbytes</a:t>
            </a:r>
            <a:r>
              <a:rPr lang="en-GB" sz="2200"/>
              <a:t> package to compress the pretrained model to a 4-bit representation.</a:t>
            </a:r>
            <a:endParaRPr b="1" sz="2200"/>
          </a:p>
        </p:txBody>
      </p:sp>
      <p:pic>
        <p:nvPicPr>
          <p:cNvPr id="292" name="Google Shape;29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200" y="617575"/>
            <a:ext cx="4573226" cy="438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LoRA Configuration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98" name="Google Shape;298;p52"/>
          <p:cNvSpPr txBox="1"/>
          <p:nvPr>
            <p:ph idx="1" type="body"/>
          </p:nvPr>
        </p:nvSpPr>
        <p:spPr>
          <a:xfrm>
            <a:off x="66450" y="671925"/>
            <a:ext cx="4002000" cy="4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Next, we will need to define our LoRA configuration using the </a:t>
            </a:r>
            <a:r>
              <a:rPr b="1"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peft</a:t>
            </a:r>
            <a:r>
              <a:rPr lang="en-GB" sz="2200"/>
              <a:t> library</a:t>
            </a:r>
            <a:endParaRPr b="1" sz="2200"/>
          </a:p>
        </p:txBody>
      </p:sp>
      <p:pic>
        <p:nvPicPr>
          <p:cNvPr id="299" name="Google Shape;29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425" y="742975"/>
            <a:ext cx="5546124" cy="34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LoRA Configuration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05" name="Google Shape;305;p53"/>
          <p:cNvSpPr txBox="1"/>
          <p:nvPr>
            <p:ph idx="1" type="body"/>
          </p:nvPr>
        </p:nvSpPr>
        <p:spPr>
          <a:xfrm>
            <a:off x="66450" y="536725"/>
            <a:ext cx="89610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There are several parameters worth mentioning: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endParaRPr b="1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This is the rank of the compressed matrices. Increasing this value will also increase the sizes of the </a:t>
            </a:r>
            <a:r>
              <a:rPr lang="en-GB" sz="2200"/>
              <a:t>compressed</a:t>
            </a:r>
            <a:r>
              <a:rPr lang="en-GB" sz="2200"/>
              <a:t> matrices leading to </a:t>
            </a:r>
            <a:r>
              <a:rPr b="1" lang="en-GB" sz="2200"/>
              <a:t>less compression -&gt; better representative power. 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</a:t>
            </a:r>
            <a:r>
              <a:rPr b="1"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ora_alpha</a:t>
            </a:r>
            <a:endParaRPr b="1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Controls the amount of change that is added to the original weights.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target_modules</a:t>
            </a:r>
            <a:endParaRPr b="1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>
                <a:highlight>
                  <a:schemeClr val="lt1"/>
                </a:highlight>
              </a:rPr>
              <a:t>Controls which layers to target. The LoRA procedure can choose to ignore specific layers, like specific projection layers.</a:t>
            </a:r>
            <a:endParaRPr sz="22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4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>
                <a:highlight>
                  <a:schemeClr val="lt1"/>
                </a:highlight>
              </a:rPr>
              <a:t>Training Configuration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11" name="Google Shape;311;p54"/>
          <p:cNvSpPr txBox="1"/>
          <p:nvPr>
            <p:ph idx="1" type="body"/>
          </p:nvPr>
        </p:nvSpPr>
        <p:spPr>
          <a:xfrm>
            <a:off x="66450" y="536725"/>
            <a:ext cx="89610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need to configure our training parameters as we did in Chapter 11: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12" name="Google Shape;3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146" y="981775"/>
            <a:ext cx="6441877" cy="38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5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LoRA Configuration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18" name="Google Shape;318;p55"/>
          <p:cNvSpPr txBox="1"/>
          <p:nvPr>
            <p:ph idx="1" type="body"/>
          </p:nvPr>
        </p:nvSpPr>
        <p:spPr>
          <a:xfrm>
            <a:off x="66450" y="536725"/>
            <a:ext cx="89610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num_train_epochs</a:t>
            </a:r>
            <a:endParaRPr b="1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The total number of training rounds.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endParaRPr b="1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Determines the step size at each iteration of weight updates. The authors of QLoRA found that </a:t>
            </a:r>
            <a:r>
              <a:rPr b="1" lang="en-GB" sz="2200"/>
              <a:t>higher learning rates work better for larger models (&gt;33B parameters).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lr_scheduler_type</a:t>
            </a:r>
            <a:endParaRPr b="1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>
                <a:highlight>
                  <a:schemeClr val="lt1"/>
                </a:highlight>
              </a:rPr>
              <a:t>It will linearly increase the learning rate, starting from zero, until it reaches the set value</a:t>
            </a:r>
            <a:r>
              <a:rPr lang="en-GB" sz="2200">
                <a:highlight>
                  <a:schemeClr val="lt1"/>
                </a:highlight>
              </a:rPr>
              <a:t>.</a:t>
            </a:r>
            <a:endParaRPr sz="2200">
              <a:highlight>
                <a:schemeClr val="lt1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>
                <a:solidFill>
                  <a:srgbClr val="188038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optim</a:t>
            </a:r>
            <a:endParaRPr b="1" sz="2200">
              <a:highlight>
                <a:schemeClr val="lt1"/>
              </a:highlight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>
                <a:highlight>
                  <a:schemeClr val="lt1"/>
                </a:highlight>
              </a:rPr>
              <a:t>The paged optimizers used in the original QLoRA paper.</a:t>
            </a:r>
            <a:endParaRPr sz="22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Training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24" name="Google Shape;324;p56"/>
          <p:cNvSpPr txBox="1"/>
          <p:nvPr>
            <p:ph idx="1" type="body"/>
          </p:nvPr>
        </p:nvSpPr>
        <p:spPr>
          <a:xfrm>
            <a:off x="66450" y="536725"/>
            <a:ext cx="25188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Now that we have prepared all our models and parameters, we can start fine-tuning the model:</a:t>
            </a:r>
            <a:endParaRPr sz="2200">
              <a:highlight>
                <a:schemeClr val="lt1"/>
              </a:highlight>
            </a:endParaRPr>
          </a:p>
        </p:txBody>
      </p:sp>
      <p:pic>
        <p:nvPicPr>
          <p:cNvPr id="325" name="Google Shape;32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9250" y="614275"/>
            <a:ext cx="6502850" cy="427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7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Merge Weights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31" name="Google Shape;331;p57"/>
          <p:cNvSpPr txBox="1"/>
          <p:nvPr>
            <p:ph idx="1" type="body"/>
          </p:nvPr>
        </p:nvSpPr>
        <p:spPr>
          <a:xfrm>
            <a:off x="66450" y="536725"/>
            <a:ext cx="86787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After we have trained our QLoRA weights, </a:t>
            </a:r>
            <a:r>
              <a:rPr b="1" lang="en-GB" sz="2200"/>
              <a:t>we still need to combine them with the original weights to use them.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reload the model in 16 bits, instead of the quantized 4 bits, to merge the weights.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332" name="Google Shape;33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475" y="2093438"/>
            <a:ext cx="7591425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Merge Weights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38" name="Google Shape;338;p58"/>
          <p:cNvSpPr txBox="1"/>
          <p:nvPr>
            <p:ph idx="1" type="body"/>
          </p:nvPr>
        </p:nvSpPr>
        <p:spPr>
          <a:xfrm>
            <a:off x="46050" y="536725"/>
            <a:ext cx="24945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After merging, we can use it with the prompt template: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output shows that </a:t>
            </a:r>
            <a:r>
              <a:rPr b="1" lang="en-GB" sz="2200"/>
              <a:t>the model now follows our instructions</a:t>
            </a:r>
            <a:r>
              <a:rPr lang="en-GB" sz="2200"/>
              <a:t>, which is not possible with the base model.</a:t>
            </a:r>
            <a:endParaRPr b="1" sz="2200"/>
          </a:p>
        </p:txBody>
      </p:sp>
      <p:pic>
        <p:nvPicPr>
          <p:cNvPr id="339" name="Google Shape;33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6625" y="630050"/>
            <a:ext cx="6601025" cy="400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9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>
                <a:highlight>
                  <a:schemeClr val="lt1"/>
                </a:highlight>
              </a:rPr>
              <a:t>Leaderboards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45" name="Google Shape;345;p59"/>
          <p:cNvSpPr txBox="1"/>
          <p:nvPr>
            <p:ph idx="1" type="body"/>
          </p:nvPr>
        </p:nvSpPr>
        <p:spPr>
          <a:xfrm>
            <a:off x="46050" y="536725"/>
            <a:ext cx="8804100" cy="45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Leaderboards were developed containing multiple benchmarks.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 common leaderboard is the</a:t>
            </a:r>
            <a:r>
              <a:rPr b="1" lang="en-GB" sz="2200"/>
              <a:t> Open LLM Leaderboard </a:t>
            </a:r>
            <a:r>
              <a:rPr lang="en-GB" sz="2200"/>
              <a:t>which includes the following benchmarks: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HellaSwag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MMLU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TruthfulQA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GSM8k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Models that top the leaderboard, assuming they were not overfitted on the data, are generall</a:t>
            </a:r>
            <a:r>
              <a:rPr lang="en-GB" sz="2200"/>
              <a:t>y regarded as the "best" model.</a:t>
            </a:r>
            <a:endParaRPr sz="2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0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Automated Evaluation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51" name="Google Shape;351;p60"/>
          <p:cNvSpPr txBox="1"/>
          <p:nvPr>
            <p:ph idx="1" type="body"/>
          </p:nvPr>
        </p:nvSpPr>
        <p:spPr>
          <a:xfrm>
            <a:off x="66350" y="566100"/>
            <a:ext cx="9046200" cy="4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The Challenge: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Text quality matters beyond correctness (reasoning path, conciseness, construction)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Same answer can be derived differently; summaries can vary in length/quality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Solution: LLM-as-a-Judge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Separate LLM evaluates the quality of the target LLM's output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Pairwise comparison variant: Two LLMs generate answers -&gt; third LLM judges which is better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Advantages</a:t>
            </a:r>
            <a:r>
              <a:rPr lang="en-GB" sz="2200"/>
              <a:t>: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Automated evaluation of open-ended questions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Evaluation improves as LLMs improve (methodology grows with the field)</a:t>
            </a:r>
            <a:endParaRPr b="1" sz="2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1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Human Evaluation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57" name="Google Shape;357;p61"/>
          <p:cNvSpPr txBox="1"/>
          <p:nvPr>
            <p:ph idx="1" type="body"/>
          </p:nvPr>
        </p:nvSpPr>
        <p:spPr>
          <a:xfrm>
            <a:off x="66350" y="566100"/>
            <a:ext cx="9046200" cy="4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Why Human Evaluation Matters:</a:t>
            </a:r>
            <a:endParaRPr b="1"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Gold standard beyond benchmarks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 sz="2200"/>
              <a:t>Benchmarks don't capture domain-specific performance</a:t>
            </a:r>
            <a:r>
              <a:rPr lang="en-GB" sz="2200"/>
              <a:t> or human preference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Current methods are not perfect measures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Chatbot Arena Example:</a:t>
            </a:r>
            <a:endParaRPr b="1"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Users interact with two anonymous LLMs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Vote for preferred response -&gt; models revealed after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800,000+ votes used to compute rankings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Elo rating system (from chess): win rates determine relative skill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Low-ranked beating high-ranked = significant ranking change 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Limitation: </a:t>
            </a:r>
            <a:r>
              <a:rPr lang="en-GB" sz="2200"/>
              <a:t>Crowdsourced opinions may not match your specific use case</a:t>
            </a:r>
            <a:endParaRPr sz="2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2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Preference-Tuning/Alignment/RLHF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63" name="Google Shape;363;p62"/>
          <p:cNvSpPr txBox="1"/>
          <p:nvPr>
            <p:ph idx="1" type="body"/>
          </p:nvPr>
        </p:nvSpPr>
        <p:spPr>
          <a:xfrm>
            <a:off x="66350" y="566100"/>
            <a:ext cx="3051600" cy="4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Although our model can now follow instructions, we can  improve it more by a final training </a:t>
            </a:r>
            <a:r>
              <a:rPr lang="en-GB" sz="2200"/>
              <a:t>phase </a:t>
            </a:r>
            <a:r>
              <a:rPr lang="en-GB" sz="2200"/>
              <a:t>to align it with our preferences.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can ask a person (preference evaluator) to evaluate the quality of that model generation: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64" name="Google Shape;36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9098" y="669273"/>
            <a:ext cx="6019400" cy="31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3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Preference-Tuning/Alignment/RLHF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70" name="Google Shape;370;p63"/>
          <p:cNvSpPr txBox="1"/>
          <p:nvPr>
            <p:ph idx="1" type="body"/>
          </p:nvPr>
        </p:nvSpPr>
        <p:spPr>
          <a:xfrm>
            <a:off x="112250" y="508100"/>
            <a:ext cx="9031800" cy="4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 preference tuning step updates the model based on that score: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If the score is high, the model is updated to encourage it to generate more like this type of generation.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If the score is low, the model is updated to discourage such generations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71" name="Google Shape;37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862" y="2437325"/>
            <a:ext cx="6008275" cy="25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4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Automating Preference Evaluation Using Reward Models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77" name="Google Shape;377;p64"/>
          <p:cNvSpPr txBox="1"/>
          <p:nvPr>
            <p:ph idx="1" type="body"/>
          </p:nvPr>
        </p:nvSpPr>
        <p:spPr>
          <a:xfrm>
            <a:off x="112250" y="965250"/>
            <a:ext cx="9031800" cy="4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To automate preference evaluation, we need a step before the preference-tuning step, namely to train a reward model: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78" name="Google Shape;37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2304650"/>
            <a:ext cx="655320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5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Automating Preference Evaluation Using Reward Models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84" name="Google Shape;384;p65"/>
          <p:cNvSpPr txBox="1"/>
          <p:nvPr>
            <p:ph idx="1" type="body"/>
          </p:nvPr>
        </p:nvSpPr>
        <p:spPr>
          <a:xfrm>
            <a:off x="112250" y="965250"/>
            <a:ext cx="9031800" cy="4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2200"/>
              <a:t>To create a reward model, we take a </a:t>
            </a:r>
            <a:r>
              <a:rPr b="1" lang="en-GB" sz="2200"/>
              <a:t>copy of the instruction-tuned model </a:t>
            </a:r>
            <a:r>
              <a:rPr lang="en-GB" sz="2200"/>
              <a:t>and slightly change it so that instead of generating text, it now outputs a single score.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85" name="Google Shape;38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013" y="2402500"/>
            <a:ext cx="6657975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6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Reward model training step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91" name="Google Shape;391;p66"/>
          <p:cNvSpPr txBox="1"/>
          <p:nvPr>
            <p:ph idx="1" type="body"/>
          </p:nvPr>
        </p:nvSpPr>
        <p:spPr>
          <a:xfrm>
            <a:off x="112250" y="617325"/>
            <a:ext cx="47166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Now that we have the preference training dataset, we can train the reward model.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 simple step is that we use the reward model to: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Score the accepted generation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Score the rejected generation</a:t>
            </a:r>
            <a:endParaRPr sz="2200"/>
          </a:p>
        </p:txBody>
      </p:sp>
      <p:pic>
        <p:nvPicPr>
          <p:cNvPr id="392" name="Google Shape;39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275" y="675125"/>
            <a:ext cx="3693499" cy="41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7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Reward model training step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98" name="Google Shape;398;p67"/>
          <p:cNvSpPr txBox="1"/>
          <p:nvPr>
            <p:ph idx="1" type="body"/>
          </p:nvPr>
        </p:nvSpPr>
        <p:spPr>
          <a:xfrm>
            <a:off x="112250" y="617325"/>
            <a:ext cx="34407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When we combine everything together, we get the three stages to preference tuning: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Collect preference data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Train a reward model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Use the reward model to fine-tune the LLM</a:t>
            </a:r>
            <a:r>
              <a:rPr lang="en-GB" sz="2200"/>
              <a:t> (operating as the preference evaluator)</a:t>
            </a:r>
            <a:endParaRPr sz="2200"/>
          </a:p>
        </p:txBody>
      </p:sp>
      <p:pic>
        <p:nvPicPr>
          <p:cNvPr id="399" name="Google Shape;39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9950" y="1237425"/>
            <a:ext cx="5408374" cy="25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8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Reward model training step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05" name="Google Shape;405;p68"/>
          <p:cNvSpPr txBox="1"/>
          <p:nvPr>
            <p:ph idx="1" type="body"/>
          </p:nvPr>
        </p:nvSpPr>
        <p:spPr>
          <a:xfrm>
            <a:off x="112250" y="617325"/>
            <a:ext cx="34407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Proximal Policy Optimization (PPO) </a:t>
            </a:r>
            <a:r>
              <a:rPr lang="en-GB" sz="2200"/>
              <a:t>is a popular reinforcement technique that optimizes the instruction-tuned LLM by making sure that the LLM does not deviate too much from the expected rewards.</a:t>
            </a:r>
            <a:endParaRPr sz="2200"/>
          </a:p>
        </p:txBody>
      </p:sp>
      <p:pic>
        <p:nvPicPr>
          <p:cNvPr id="406" name="Google Shape;40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2050" y="862150"/>
            <a:ext cx="5286250" cy="2913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9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Training No Reward Model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12" name="Google Shape;412;p69"/>
          <p:cNvSpPr txBox="1"/>
          <p:nvPr>
            <p:ph idx="1" type="body"/>
          </p:nvPr>
        </p:nvSpPr>
        <p:spPr>
          <a:xfrm>
            <a:off x="112250" y="617325"/>
            <a:ext cx="46497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 disadvantage of </a:t>
            </a:r>
            <a:r>
              <a:rPr b="1" lang="en-GB" sz="2200"/>
              <a:t>PPO</a:t>
            </a:r>
            <a:r>
              <a:rPr lang="en-GB" sz="2200"/>
              <a:t> is that it is a complex method that needs to train at least two models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Direct Preference Optimization (DPO) </a:t>
            </a:r>
            <a:r>
              <a:rPr lang="en-GB" sz="2200"/>
              <a:t>is an alternative to PPO and does away with the reinforcement-based learning procedure.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Instead of using the reward model to judge the quality of a generation, we let the LLM itself do that.</a:t>
            </a:r>
            <a:endParaRPr sz="2200"/>
          </a:p>
        </p:txBody>
      </p:sp>
      <p:pic>
        <p:nvPicPr>
          <p:cNvPr id="413" name="Google Shape;41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075" y="1003800"/>
            <a:ext cx="4455826" cy="292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0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Preference Tuning with DPO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19" name="Google Shape;419;p70"/>
          <p:cNvSpPr txBox="1"/>
          <p:nvPr>
            <p:ph idx="1" type="body"/>
          </p:nvPr>
        </p:nvSpPr>
        <p:spPr>
          <a:xfrm>
            <a:off x="19225" y="617325"/>
            <a:ext cx="90597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Templating Alignment Data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will use a dataset that for each prompt contains an accepted generation and a rejected generation.</a:t>
            </a:r>
            <a:endParaRPr sz="2200"/>
          </a:p>
        </p:txBody>
      </p:sp>
      <p:pic>
        <p:nvPicPr>
          <p:cNvPr id="420" name="Google Shape;42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00" y="2073375"/>
            <a:ext cx="4271475" cy="29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125" y="2073375"/>
            <a:ext cx="4367799" cy="27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1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Preference Tuning with DPO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27" name="Google Shape;427;p71"/>
          <p:cNvSpPr txBox="1"/>
          <p:nvPr>
            <p:ph idx="1" type="body"/>
          </p:nvPr>
        </p:nvSpPr>
        <p:spPr>
          <a:xfrm>
            <a:off x="19225" y="617325"/>
            <a:ext cx="46719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Model Quantization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As before, we quantize the model to reduce the necessary VRAM for training:</a:t>
            </a:r>
            <a:endParaRPr sz="2200"/>
          </a:p>
        </p:txBody>
      </p:sp>
      <p:pic>
        <p:nvPicPr>
          <p:cNvPr id="428" name="Google Shape;42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550" y="649200"/>
            <a:ext cx="4008575" cy="436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2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Preference Tuning with DPO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34" name="Google Shape;434;p72"/>
          <p:cNvSpPr txBox="1"/>
          <p:nvPr>
            <p:ph idx="1" type="body"/>
          </p:nvPr>
        </p:nvSpPr>
        <p:spPr>
          <a:xfrm>
            <a:off x="19225" y="617325"/>
            <a:ext cx="46719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Training Configuration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For the sake of simplicity, we will use the same training arguments as we did before with one difference.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added the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warmup_ratio</a:t>
            </a:r>
            <a:r>
              <a:rPr lang="en-GB" sz="2200"/>
              <a:t> parameter, increasing the learning rate from 0 to the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r>
              <a:rPr lang="en-GB" sz="2200"/>
              <a:t> value we set for the first 10% of steps.</a:t>
            </a:r>
            <a:endParaRPr sz="2200"/>
          </a:p>
        </p:txBody>
      </p:sp>
      <p:pic>
        <p:nvPicPr>
          <p:cNvPr id="435" name="Google Shape;43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39975"/>
            <a:ext cx="4365176" cy="325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3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Preference Tuning with DPO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41" name="Google Shape;441;p73"/>
          <p:cNvSpPr txBox="1"/>
          <p:nvPr>
            <p:ph idx="1" type="body"/>
          </p:nvPr>
        </p:nvSpPr>
        <p:spPr>
          <a:xfrm>
            <a:off x="19225" y="617325"/>
            <a:ext cx="39132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Training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Now that we have prepared all our models and parameters, we can start fine-tuning our model: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42" name="Google Shape;44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750" y="848800"/>
            <a:ext cx="5374225" cy="400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4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Preference Tuning with DPO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48" name="Google Shape;448;p74"/>
          <p:cNvSpPr txBox="1"/>
          <p:nvPr>
            <p:ph idx="1" type="body"/>
          </p:nvPr>
        </p:nvSpPr>
        <p:spPr>
          <a:xfrm>
            <a:off x="19225" y="617325"/>
            <a:ext cx="39132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Training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have created a second adapter. To merge both adapters, we iteratively merge the adapters with the base model: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49" name="Google Shape;44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2525" y="872451"/>
            <a:ext cx="5187874" cy="359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>
            <p:ph type="title"/>
          </p:nvPr>
        </p:nvSpPr>
        <p:spPr>
          <a:xfrm>
            <a:off x="66350" y="100575"/>
            <a:ext cx="90777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Preference Tuning with DPO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55" name="Google Shape;455;p75"/>
          <p:cNvSpPr txBox="1"/>
          <p:nvPr>
            <p:ph idx="1" type="body"/>
          </p:nvPr>
        </p:nvSpPr>
        <p:spPr>
          <a:xfrm>
            <a:off x="19225" y="617325"/>
            <a:ext cx="8944500" cy="4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The Two-Stage Approach (SFT + DPO)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This</a:t>
            </a:r>
            <a:r>
              <a:rPr lang="en-GB" sz="2200"/>
              <a:t> combination of SFT and DPO is a great way to first fine-tune your model to perform basic chatting and then align its answers with human preferences. 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But it comes at a cost since we need to perform two training loops and potentially tweak the parameters in two separate processes.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A More Efficient Alternative: ORPO</a:t>
            </a:r>
            <a:endParaRPr b="1" sz="2200"/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Odds Ratio Preference Optimization (ORPO)</a:t>
            </a:r>
            <a:r>
              <a:rPr lang="en-GB" sz="2200"/>
              <a:t>, a process that combines SFT and DPO into a single training process.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ORPO removes the need to perform two separate training loops</a:t>
            </a:r>
            <a:endParaRPr sz="2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"/>
          <p:cNvSpPr txBox="1"/>
          <p:nvPr>
            <p:ph type="title"/>
          </p:nvPr>
        </p:nvSpPr>
        <p:spPr>
          <a:xfrm>
            <a:off x="3969300" y="2247000"/>
            <a:ext cx="12054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END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