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5143500" cx="9144000"/>
  <p:notesSz cx="6858000" cy="9144000"/>
  <p:embeddedFontLst>
    <p:embeddedFont>
      <p:font typeface="Raleway"/>
      <p:regular r:id="rId63"/>
      <p:bold r:id="rId64"/>
      <p:italic r:id="rId65"/>
      <p:boldItalic r:id="rId66"/>
    </p:embeddedFont>
    <p:embeddedFont>
      <p:font typeface="Lato"/>
      <p:regular r:id="rId67"/>
      <p:bold r:id="rId68"/>
      <p:italic r:id="rId69"/>
      <p:boldItalic r:id="rId70"/>
    </p:embeddedFont>
    <p:embeddedFont>
      <p:font typeface="Roboto Mono"/>
      <p:regular r:id="rId71"/>
      <p:bold r:id="rId72"/>
      <p:italic r:id="rId73"/>
      <p:boldItalic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obotoMono-italic.fntdata"/><Relationship Id="rId72" Type="http://schemas.openxmlformats.org/officeDocument/2006/relationships/font" Target="fonts/RobotoMono-bold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74" Type="http://schemas.openxmlformats.org/officeDocument/2006/relationships/font" Target="fonts/RobotoMono-boldItalic.fnt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RobotoMono-regular.fntdata"/><Relationship Id="rId70" Type="http://schemas.openxmlformats.org/officeDocument/2006/relationships/font" Target="fonts/Lato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Raleway-bold.fntdata"/><Relationship Id="rId63" Type="http://schemas.openxmlformats.org/officeDocument/2006/relationships/font" Target="fonts/Raleway-regular.fntdata"/><Relationship Id="rId22" Type="http://schemas.openxmlformats.org/officeDocument/2006/relationships/slide" Target="slides/slide16.xml"/><Relationship Id="rId66" Type="http://schemas.openxmlformats.org/officeDocument/2006/relationships/font" Target="fonts/Raleway-boldItalic.fntdata"/><Relationship Id="rId21" Type="http://schemas.openxmlformats.org/officeDocument/2006/relationships/slide" Target="slides/slide15.xml"/><Relationship Id="rId65" Type="http://schemas.openxmlformats.org/officeDocument/2006/relationships/font" Target="fonts/Raleway-italic.fntdata"/><Relationship Id="rId24" Type="http://schemas.openxmlformats.org/officeDocument/2006/relationships/slide" Target="slides/slide18.xml"/><Relationship Id="rId68" Type="http://schemas.openxmlformats.org/officeDocument/2006/relationships/font" Target="fonts/Lato-bold.fntdata"/><Relationship Id="rId23" Type="http://schemas.openxmlformats.org/officeDocument/2006/relationships/slide" Target="slides/slide17.xml"/><Relationship Id="rId67" Type="http://schemas.openxmlformats.org/officeDocument/2006/relationships/font" Target="fonts/Lato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Lato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975018c79_2_6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8975018c79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975018c79_2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8975018c79_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9b9a7be7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a9b9a7be7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9b9a7be7c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a9b9a7be7c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9b9a7be7c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a9b9a7be7c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9b9a7be7c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a9b9a7be7c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9b9a7be7c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a9b9a7be7c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9b9a7be7c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a9b9a7be7c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9b9a7be7c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a9b9a7be7c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9b9a7be7c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a9b9a7be7c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9b9a7be7c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a9b9a7be7c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9b9a7be7c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a9b9a7be7c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9b9a7be7c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a9b9a7be7c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9b9a7be7c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a9b9a7be7c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9b9a7be7c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a9b9a7be7c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9b9a7be7c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a9b9a7be7c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9b9a7be7c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a9b9a7be7c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9b9a7be7c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a9b9a7be7c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9b9a7be7c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a9b9a7be7c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9b9a7be7c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a9b9a7be7c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9b9a7be7c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a9b9a7be7c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9b9a7be7c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a9b9a7be7c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9b9a7be7c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a9b9a7be7c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9b9a7be7c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a9b9a7be7c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9b9a7be7c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g3a9b9a7be7c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9b9a7be7c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a9b9a7be7c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a9b9a7be7c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a9b9a7be7c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9b9a7be7c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a9b9a7be7c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9b9a7be7c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a9b9a7be7c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9b9a7be7c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a9b9a7be7c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9b9a7be7c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a9b9a7be7c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9b9a7be7c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a9b9a7be7c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9b9a7be7c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a9b9a7be7c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9b9a7be7c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a9b9a7be7c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9b9a7be7c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a9b9a7be7c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a9b9a7be7c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g3a9b9a7be7c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9b9a7be7c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3a9b9a7be7c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9b9a7be7c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a9b9a7be7c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9b9a7be7c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3a9b9a7be7c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9b9a7be7c_0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a9b9a7be7c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a9b9a7be7c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a9b9a7be7c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a9b9a7be7c_0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g3a9b9a7be7c_0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a9b9a7be7c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a9b9a7be7c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9b9a7be7c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g3a9b9a7be7c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a9b9a7be7c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a9b9a7be7c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a9b9a7be7c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g3a9b9a7be7c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9b9a7be7c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g3a9b9a7be7c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9b9a7be7c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3a9b9a7be7c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a9b9a7be7c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a9b9a7be7c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a9b9a7be7c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g3a9b9a7be7c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a9b9a7be7c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g3a9b9a7be7c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a9b9a7be7c_0_6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3a9b9a7be7c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9b9a7be7c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g3a9b9a7be7c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a9b9a7be7c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g3a9b9a7be7c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a9b9a7be7c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g3a9b9a7be7c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48de34dde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3a48de34dde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1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6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6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6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Google Shape;74;p17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7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7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19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9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2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20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21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8" name="Google Shape;98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22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Google Shape;106;p2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23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A">
  <p:cSld name="TITLE_AND_BODY_2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5"/>
          <p:cNvSpPr txBox="1"/>
          <p:nvPr>
            <p:ph type="title"/>
          </p:nvPr>
        </p:nvSpPr>
        <p:spPr>
          <a:xfrm>
            <a:off x="327575" y="340500"/>
            <a:ext cx="3548100" cy="10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327575" y="1616646"/>
            <a:ext cx="3548100" cy="3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Relationship Id="rId4" Type="http://schemas.openxmlformats.org/officeDocument/2006/relationships/image" Target="../media/image1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4.png"/><Relationship Id="rId4" Type="http://schemas.openxmlformats.org/officeDocument/2006/relationships/image" Target="../media/image2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3.png"/><Relationship Id="rId4" Type="http://schemas.openxmlformats.org/officeDocument/2006/relationships/image" Target="../media/image4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>
            <p:ph type="ctrTitle"/>
          </p:nvPr>
        </p:nvSpPr>
        <p:spPr>
          <a:xfrm>
            <a:off x="855400" y="630225"/>
            <a:ext cx="6544800" cy="29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/>
              <a:t>Chapter 10 - Creating Text Embedding Models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22" name="Google Shape;122;p26"/>
          <p:cNvSpPr txBox="1"/>
          <p:nvPr>
            <p:ph idx="1" type="subTitle"/>
          </p:nvPr>
        </p:nvSpPr>
        <p:spPr>
          <a:xfrm>
            <a:off x="2390267" y="29608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From the book Hands-On Large Language Models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/>
          <p:nvPr>
            <p:ph type="title"/>
          </p:nvPr>
        </p:nvSpPr>
        <p:spPr>
          <a:xfrm>
            <a:off x="486675" y="100575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Embedding Models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28" name="Google Shape;128;p27"/>
          <p:cNvSpPr txBox="1"/>
          <p:nvPr>
            <p:ph idx="1" type="body"/>
          </p:nvPr>
        </p:nvSpPr>
        <p:spPr>
          <a:xfrm>
            <a:off x="0" y="514500"/>
            <a:ext cx="88743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As we know, we first have to convert this textual data to </a:t>
            </a:r>
            <a:r>
              <a:rPr b="1" lang="en-GB" sz="2200"/>
              <a:t>numeric representations.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The process of </a:t>
            </a:r>
            <a:r>
              <a:rPr i="1" lang="en-GB" sz="2200"/>
              <a:t>converting from text to numeric representations</a:t>
            </a:r>
            <a:r>
              <a:rPr lang="en-GB" sz="2200"/>
              <a:t> is referred to as ‘embedding’ the input to output usable </a:t>
            </a:r>
            <a:r>
              <a:rPr b="1" lang="en-GB" sz="2200"/>
              <a:t>vectors</a:t>
            </a:r>
            <a:r>
              <a:rPr lang="en-GB" sz="2200"/>
              <a:t>, namely </a:t>
            </a:r>
            <a:r>
              <a:rPr b="1" lang="en-GB" sz="2200"/>
              <a:t>embeddings</a:t>
            </a:r>
            <a:r>
              <a:rPr lang="en-GB" sz="2200"/>
              <a:t>.</a:t>
            </a:r>
            <a:endParaRPr sz="2200"/>
          </a:p>
        </p:txBody>
      </p:sp>
      <p:pic>
        <p:nvPicPr>
          <p:cNvPr id="129" name="Google Shape;12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251" y="2978999"/>
            <a:ext cx="7202999" cy="19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/>
          <p:nvPr>
            <p:ph type="title"/>
          </p:nvPr>
        </p:nvSpPr>
        <p:spPr>
          <a:xfrm>
            <a:off x="486675" y="100575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Embedding Models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35" name="Google Shape;135;p28"/>
          <p:cNvSpPr txBox="1"/>
          <p:nvPr>
            <p:ph idx="1" type="body"/>
          </p:nvPr>
        </p:nvSpPr>
        <p:spPr>
          <a:xfrm>
            <a:off x="0" y="514500"/>
            <a:ext cx="88743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This process is performed by an </a:t>
            </a:r>
            <a:r>
              <a:rPr b="1" lang="en-GB" sz="2200"/>
              <a:t>LLM</a:t>
            </a:r>
            <a:r>
              <a:rPr lang="en-GB" sz="2200"/>
              <a:t>, or an </a:t>
            </a:r>
            <a:r>
              <a:rPr b="1" lang="en-GB" sz="2200"/>
              <a:t>embedding model</a:t>
            </a:r>
            <a:r>
              <a:rPr lang="en-GB" sz="2200"/>
              <a:t>.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The purpose of this model is to, accurately as possible, </a:t>
            </a:r>
            <a:r>
              <a:rPr b="1" lang="en-GB" sz="2200"/>
              <a:t>capture the features or representations the textual data</a:t>
            </a:r>
            <a:r>
              <a:rPr lang="en-GB" sz="2200"/>
              <a:t> as an </a:t>
            </a:r>
            <a:r>
              <a:rPr b="1" lang="en-GB" sz="2200"/>
              <a:t>embedding</a:t>
            </a:r>
            <a:r>
              <a:rPr lang="en-GB" sz="2200"/>
              <a:t>.</a:t>
            </a:r>
            <a:endParaRPr sz="2200"/>
          </a:p>
        </p:txBody>
      </p:sp>
      <p:pic>
        <p:nvPicPr>
          <p:cNvPr id="136" name="Google Shape;13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351" y="2300499"/>
            <a:ext cx="7202999" cy="19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"/>
          <p:cNvSpPr txBox="1"/>
          <p:nvPr>
            <p:ph type="title"/>
          </p:nvPr>
        </p:nvSpPr>
        <p:spPr>
          <a:xfrm>
            <a:off x="486675" y="100575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Embedding Models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42" name="Google Shape;142;p29"/>
          <p:cNvSpPr txBox="1"/>
          <p:nvPr>
            <p:ph idx="1" type="body"/>
          </p:nvPr>
        </p:nvSpPr>
        <p:spPr>
          <a:xfrm>
            <a:off x="0" y="514500"/>
            <a:ext cx="4459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But what does it mean to be accurate in representations?</a:t>
            </a:r>
            <a:endParaRPr b="1" sz="2200"/>
          </a:p>
          <a:p>
            <a:pPr indent="-34734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sz="2200"/>
              <a:t>Means the model can capture the meaning or the </a:t>
            </a:r>
            <a:r>
              <a:rPr i="1" lang="en-GB" sz="2200"/>
              <a:t>semantic nature</a:t>
            </a:r>
            <a:r>
              <a:rPr lang="en-GB" sz="2200"/>
              <a:t> of the text</a:t>
            </a:r>
            <a:endParaRPr sz="2200"/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200"/>
              <a:t>If the model can capture this, then we would have the right embeddings</a:t>
            </a:r>
            <a:endParaRPr sz="2200"/>
          </a:p>
          <a:p>
            <a:pPr indent="-34734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sz="2200"/>
              <a:t>important for an embedding space, where semantic similarity is calculated using the embedding values.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143" name="Google Shape;14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6150" y="1059625"/>
            <a:ext cx="4379999" cy="2838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/>
          <p:nvPr>
            <p:ph type="title"/>
          </p:nvPr>
        </p:nvSpPr>
        <p:spPr>
          <a:xfrm>
            <a:off x="486675" y="100575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Embedding Models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49" name="Google Shape;149;p30"/>
          <p:cNvSpPr txBox="1"/>
          <p:nvPr>
            <p:ph idx="1" type="body"/>
          </p:nvPr>
        </p:nvSpPr>
        <p:spPr>
          <a:xfrm>
            <a:off x="0" y="514500"/>
            <a:ext cx="4459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But what does it mean to be accurate in representations?</a:t>
            </a:r>
            <a:endParaRPr b="1"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But remember that not all embedding models are trained for semantic similarity.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W</a:t>
            </a:r>
            <a:r>
              <a:rPr lang="en-GB" sz="2200"/>
              <a:t>hen building a sentiment classifier, it is more important to correctly identify the sentiment of the text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150" name="Google Shape;15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8250" y="824150"/>
            <a:ext cx="4380000" cy="2929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/>
          <p:nvPr>
            <p:ph type="title"/>
          </p:nvPr>
        </p:nvSpPr>
        <p:spPr>
          <a:xfrm>
            <a:off x="486675" y="100575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What Is Contrastive Learning?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56" name="Google Shape;156;p31"/>
          <p:cNvSpPr txBox="1"/>
          <p:nvPr>
            <p:ph idx="1" type="body"/>
          </p:nvPr>
        </p:nvSpPr>
        <p:spPr>
          <a:xfrm>
            <a:off x="0" y="514500"/>
            <a:ext cx="88794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Contrastive Learning</a:t>
            </a:r>
            <a:endParaRPr b="1"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 technique that aims to train an embedding model such that </a:t>
            </a:r>
            <a:r>
              <a:rPr b="1" lang="en-GB" sz="2200"/>
              <a:t>similar documents </a:t>
            </a:r>
            <a:r>
              <a:rPr lang="en-GB" sz="2200"/>
              <a:t>are </a:t>
            </a:r>
            <a:r>
              <a:rPr b="1" lang="en-GB" sz="2200"/>
              <a:t>closer</a:t>
            </a:r>
            <a:r>
              <a:rPr lang="en-GB" sz="2200"/>
              <a:t> in vector space while </a:t>
            </a:r>
            <a:r>
              <a:rPr b="1" lang="en-GB" sz="2200"/>
              <a:t>dissimilar</a:t>
            </a:r>
            <a:r>
              <a:rPr lang="en-GB" sz="2200"/>
              <a:t> ones are </a:t>
            </a:r>
            <a:r>
              <a:rPr b="1" lang="en-GB" sz="2200"/>
              <a:t>further</a:t>
            </a:r>
            <a:r>
              <a:rPr lang="en-GB" sz="2200"/>
              <a:t> apart.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 idea is the notion that the best way to teach a model what are similar and what are not is by giving it dissimilar and similar examples.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/>
              <a:t>Contrasting</a:t>
            </a:r>
            <a:r>
              <a:rPr lang="en-GB" sz="2200"/>
              <a:t> similar and dissimilar examples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/>
          <p:nvPr>
            <p:ph type="title"/>
          </p:nvPr>
        </p:nvSpPr>
        <p:spPr>
          <a:xfrm>
            <a:off x="486675" y="100575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What Is Contrastive Learning?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62" name="Google Shape;162;p32"/>
          <p:cNvSpPr txBox="1"/>
          <p:nvPr>
            <p:ph idx="1" type="body"/>
          </p:nvPr>
        </p:nvSpPr>
        <p:spPr>
          <a:xfrm>
            <a:off x="0" y="514500"/>
            <a:ext cx="9061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A way to understand contrastive learning better is through explanations.</a:t>
            </a:r>
            <a:endParaRPr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instead of asking '</a:t>
            </a:r>
            <a:r>
              <a:rPr i="1" lang="en-GB" sz="2200"/>
              <a:t>Why did you rob the bank?</a:t>
            </a:r>
            <a:r>
              <a:rPr lang="en-GB" sz="2200"/>
              <a:t>' which asks the </a:t>
            </a:r>
            <a:r>
              <a:rPr b="1" lang="en-GB" sz="2200"/>
              <a:t>overall intent</a:t>
            </a:r>
            <a:endParaRPr b="1"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 question could be phrased as '</a:t>
            </a:r>
            <a:r>
              <a:rPr i="1" lang="en-GB" sz="2200"/>
              <a:t>Why did you rob the bank instead of obeying the law?</a:t>
            </a:r>
            <a:r>
              <a:rPr lang="en-GB" sz="2200"/>
              <a:t>'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This technique is called </a:t>
            </a:r>
            <a:r>
              <a:rPr b="1" lang="en-GB" sz="2200"/>
              <a:t>contrastive explanation</a:t>
            </a:r>
            <a:r>
              <a:rPr lang="en-GB" sz="2200"/>
              <a:t>, where there is </a:t>
            </a:r>
            <a:r>
              <a:rPr b="1" lang="en-GB" sz="2200"/>
              <a:t>P instead of Q.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3"/>
          <p:cNvSpPr txBox="1"/>
          <p:nvPr>
            <p:ph type="title"/>
          </p:nvPr>
        </p:nvSpPr>
        <p:spPr>
          <a:xfrm>
            <a:off x="486675" y="100575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What Is Contrastive Learning?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68" name="Google Shape;168;p33"/>
          <p:cNvSpPr txBox="1"/>
          <p:nvPr>
            <p:ph idx="1" type="body"/>
          </p:nvPr>
        </p:nvSpPr>
        <p:spPr>
          <a:xfrm>
            <a:off x="0" y="514500"/>
            <a:ext cx="9061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Notice that this allows for a more specific 'reason'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It </a:t>
            </a:r>
            <a:r>
              <a:rPr lang="en-GB" sz="2200"/>
              <a:t>provides</a:t>
            </a:r>
            <a:r>
              <a:rPr lang="en-GB" sz="2200"/>
              <a:t> </a:t>
            </a:r>
            <a:r>
              <a:rPr b="1" lang="en-GB" sz="2200"/>
              <a:t>differentiation</a:t>
            </a:r>
            <a:r>
              <a:rPr lang="en-GB" sz="2200"/>
              <a:t> between </a:t>
            </a:r>
            <a:r>
              <a:rPr b="1" lang="en-GB" sz="2200"/>
              <a:t>similar</a:t>
            </a:r>
            <a:r>
              <a:rPr lang="en-GB" sz="2200"/>
              <a:t> and </a:t>
            </a:r>
            <a:r>
              <a:rPr b="1" lang="en-GB" sz="2200"/>
              <a:t>dissimilar</a:t>
            </a:r>
            <a:r>
              <a:rPr lang="en-GB" sz="2200"/>
              <a:t> examples.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169" name="Google Shape;1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975" y="1352063"/>
            <a:ext cx="73914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3"/>
          <p:cNvSpPr txBox="1"/>
          <p:nvPr>
            <p:ph idx="1" type="body"/>
          </p:nvPr>
        </p:nvSpPr>
        <p:spPr>
          <a:xfrm>
            <a:off x="41400" y="4181000"/>
            <a:ext cx="90612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>
                <a:highlight>
                  <a:schemeClr val="lt1"/>
                </a:highlight>
              </a:rPr>
              <a:t>Notice that getting rid of other characteristics makes the descriptors or features more dog-specific.</a:t>
            </a:r>
            <a:endParaRPr sz="22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/>
          <p:nvPr>
            <p:ph type="title"/>
          </p:nvPr>
        </p:nvSpPr>
        <p:spPr>
          <a:xfrm>
            <a:off x="689250" y="5775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SBERT (Sentence-BERT)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76" name="Google Shape;176;p34"/>
          <p:cNvSpPr txBox="1"/>
          <p:nvPr>
            <p:ph idx="1" type="body"/>
          </p:nvPr>
        </p:nvSpPr>
        <p:spPr>
          <a:xfrm>
            <a:off x="0" y="514500"/>
            <a:ext cx="9061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sentence-transformers</a:t>
            </a:r>
            <a:r>
              <a:rPr lang="en-GB" sz="2200"/>
              <a:t> is the framework that has popularized </a:t>
            </a:r>
            <a:r>
              <a:rPr b="1" lang="en-GB" sz="2200"/>
              <a:t>contrastive learning </a:t>
            </a:r>
            <a:r>
              <a:rPr lang="en-GB" sz="2200"/>
              <a:t>in the NLP community.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Before </a:t>
            </a: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sentence-transformers</a:t>
            </a:r>
            <a:r>
              <a:rPr lang="en-GB" sz="2200"/>
              <a:t> , sentence embeddings an architectural structure called </a:t>
            </a:r>
            <a:r>
              <a:rPr b="1" lang="en-GB" sz="2200"/>
              <a:t>cross-encoders</a:t>
            </a:r>
            <a:r>
              <a:rPr lang="en-GB" sz="2200"/>
              <a:t> with BERT.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Bi-</a:t>
            </a:r>
            <a:r>
              <a:rPr lang="en-GB" sz="2200"/>
              <a:t>encoders</a:t>
            </a:r>
            <a:r>
              <a:rPr lang="en-GB" sz="2200"/>
              <a:t> are more efficient, faster, and more straightforward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 cross-encoder allows </a:t>
            </a:r>
            <a:r>
              <a:rPr b="1" lang="en-GB" sz="2200"/>
              <a:t>2 sentences to be passed to a Transformer at once </a:t>
            </a:r>
            <a:r>
              <a:rPr lang="en-GB" sz="2200"/>
              <a:t>and directly compares their similarity.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While this is powerful and accurate, it </a:t>
            </a:r>
            <a:r>
              <a:rPr b="1" lang="en-GB" sz="2200"/>
              <a:t>uses a lot of computational resources.</a:t>
            </a:r>
            <a:endParaRPr b="1"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 txBox="1"/>
          <p:nvPr>
            <p:ph type="title"/>
          </p:nvPr>
        </p:nvSpPr>
        <p:spPr>
          <a:xfrm>
            <a:off x="689250" y="5775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SBERT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82" name="Google Shape;182;p35"/>
          <p:cNvSpPr txBox="1"/>
          <p:nvPr>
            <p:ph idx="1" type="body"/>
          </p:nvPr>
        </p:nvSpPr>
        <p:spPr>
          <a:xfrm>
            <a:off x="0" y="514500"/>
            <a:ext cx="9061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 cross-encoder does not generate embeddings as its output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Instead, it generates a similarity score for a </a:t>
            </a: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query-document</a:t>
            </a:r>
            <a:r>
              <a:rPr lang="en-GB" sz="2200"/>
              <a:t> pair.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183" name="Google Shape;18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176" y="1383525"/>
            <a:ext cx="6339376" cy="356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6"/>
          <p:cNvSpPr txBox="1"/>
          <p:nvPr>
            <p:ph type="title"/>
          </p:nvPr>
        </p:nvSpPr>
        <p:spPr>
          <a:xfrm>
            <a:off x="689250" y="5775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SBERT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0" y="514500"/>
            <a:ext cx="9061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Cross-encoders output </a:t>
            </a:r>
            <a:r>
              <a:rPr b="1" lang="en-GB" sz="2200"/>
              <a:t>similarity scores,</a:t>
            </a:r>
            <a:r>
              <a:rPr lang="en-GB" sz="2200"/>
              <a:t> not embeddings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Cannot be used with vector databases for RAG systems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Bi-encoders generate separate embeddings for each sentence individually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These embeddings can be </a:t>
            </a:r>
            <a:r>
              <a:rPr b="1" lang="en-GB" sz="2200"/>
              <a:t>cached</a:t>
            </a:r>
            <a:r>
              <a:rPr lang="en-GB" sz="2200"/>
              <a:t> and </a:t>
            </a:r>
            <a:r>
              <a:rPr b="1" lang="en-GB" sz="2200"/>
              <a:t>reused</a:t>
            </a:r>
            <a:r>
              <a:rPr lang="en-GB" sz="2200"/>
              <a:t> for any comparison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Similarity calculated using </a:t>
            </a:r>
            <a:r>
              <a:rPr b="1" lang="en-GB" sz="2200"/>
              <a:t>cosine similarity </a:t>
            </a:r>
            <a:endParaRPr b="1"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7"/>
          <p:cNvSpPr txBox="1"/>
          <p:nvPr>
            <p:ph type="title"/>
          </p:nvPr>
        </p:nvSpPr>
        <p:spPr>
          <a:xfrm>
            <a:off x="689250" y="5775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SBERT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95" name="Google Shape;195;p37"/>
          <p:cNvSpPr txBox="1"/>
          <p:nvPr>
            <p:ph idx="1" type="body"/>
          </p:nvPr>
        </p:nvSpPr>
        <p:spPr>
          <a:xfrm>
            <a:off x="0" y="514500"/>
            <a:ext cx="9061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Computational cost of using a cross-encoder instead of a bi-encoder: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Assume there are 100 documents,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And you need to find the similarity score for each pair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  you would need n(n-1)/2 = 100(99)/2 = 4,950 feedforward passes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With a </a:t>
            </a:r>
            <a:r>
              <a:rPr b="1" lang="en-GB" sz="2200"/>
              <a:t>bi-encoder,</a:t>
            </a:r>
            <a:r>
              <a:rPr lang="en-GB" sz="2200"/>
              <a:t> comparing the documents would need 100 embeddings only.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Embeddings are cached and can be reused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Less accurate but scalable</a:t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8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Creating an Embedding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01" name="Google Shape;201;p38"/>
          <p:cNvSpPr txBox="1"/>
          <p:nvPr>
            <p:ph idx="1" type="body"/>
          </p:nvPr>
        </p:nvSpPr>
        <p:spPr>
          <a:xfrm>
            <a:off x="0" y="514500"/>
            <a:ext cx="9061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Generating Contrastive Examples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Natural Language Inference (NLI) </a:t>
            </a:r>
            <a:r>
              <a:rPr lang="en-GB" sz="2200"/>
              <a:t>refers to the task of investigating whether, for a given premise, it entails the </a:t>
            </a:r>
            <a:r>
              <a:rPr b="1" lang="en-GB" sz="2200"/>
              <a:t>hypothesis</a:t>
            </a:r>
            <a:r>
              <a:rPr lang="en-GB" sz="2200"/>
              <a:t> (</a:t>
            </a:r>
            <a:r>
              <a:rPr b="1" lang="en-GB" sz="2200"/>
              <a:t>entailment</a:t>
            </a:r>
            <a:r>
              <a:rPr lang="en-GB" sz="2200"/>
              <a:t>), </a:t>
            </a:r>
            <a:r>
              <a:rPr b="1" lang="en-GB" sz="2200"/>
              <a:t>contradicts</a:t>
            </a:r>
            <a:r>
              <a:rPr lang="en-GB" sz="2200"/>
              <a:t> it (</a:t>
            </a:r>
            <a:r>
              <a:rPr b="1" lang="en-GB" sz="2200"/>
              <a:t>contradiction</a:t>
            </a:r>
            <a:r>
              <a:rPr lang="en-GB" sz="2200"/>
              <a:t>), or </a:t>
            </a:r>
            <a:r>
              <a:rPr b="1" lang="en-GB" sz="2200"/>
              <a:t>neither</a:t>
            </a:r>
            <a:r>
              <a:rPr lang="en-GB" sz="2200"/>
              <a:t> (</a:t>
            </a:r>
            <a:r>
              <a:rPr b="1" lang="en-GB" sz="2200"/>
              <a:t>neutral</a:t>
            </a:r>
            <a:r>
              <a:rPr lang="en-GB" sz="2200"/>
              <a:t>).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202" name="Google Shape;20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700" y="2319138"/>
            <a:ext cx="7543800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Creating an Embedding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08" name="Google Shape;208;p39"/>
          <p:cNvSpPr txBox="1"/>
          <p:nvPr>
            <p:ph idx="1" type="body"/>
          </p:nvPr>
        </p:nvSpPr>
        <p:spPr>
          <a:xfrm>
            <a:off x="0" y="514500"/>
            <a:ext cx="9061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The data used throughout creating and fine-tuning embedding models is derived from the General </a:t>
            </a:r>
            <a:r>
              <a:rPr b="1" lang="en-GB" sz="2200"/>
              <a:t>Language Understanding Evaluation (GLUE) </a:t>
            </a:r>
            <a:r>
              <a:rPr lang="en-GB" sz="2200"/>
              <a:t>benchmark, which consists of </a:t>
            </a:r>
            <a:r>
              <a:rPr b="1" lang="en-GB" sz="2200"/>
              <a:t>nine language understanding tasks.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We will be using data for one of the tasks called</a:t>
            </a:r>
            <a:r>
              <a:rPr b="1" lang="en-GB" sz="2200"/>
              <a:t> Multi-Genre Natural Language Inference (MNLI), </a:t>
            </a:r>
            <a:r>
              <a:rPr lang="en-GB" sz="2200"/>
              <a:t>a collection of 392,702 sentence pairs annotated with</a:t>
            </a:r>
            <a:r>
              <a:rPr b="1" lang="en-GB" sz="2200"/>
              <a:t> entailment (contradiction, neutral, entailment).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Creating an Embedding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14" name="Google Shape;214;p40"/>
          <p:cNvSpPr txBox="1"/>
          <p:nvPr>
            <p:ph idx="1" type="body"/>
          </p:nvPr>
        </p:nvSpPr>
        <p:spPr>
          <a:xfrm>
            <a:off x="0" y="514500"/>
            <a:ext cx="9061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We will use 50,000 of these pairs: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215" name="Google Shape;21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325" y="977288"/>
            <a:ext cx="699135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563" y="2813463"/>
            <a:ext cx="7058025" cy="17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1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Train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22" name="Google Shape;222;p41"/>
          <p:cNvSpPr txBox="1"/>
          <p:nvPr>
            <p:ph idx="1" type="body"/>
          </p:nvPr>
        </p:nvSpPr>
        <p:spPr>
          <a:xfrm>
            <a:off x="41400" y="514500"/>
            <a:ext cx="9061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To train a model from scratch we need to define </a:t>
            </a:r>
            <a:r>
              <a:rPr b="1" lang="en-GB" sz="2200"/>
              <a:t>2 things:</a:t>
            </a:r>
            <a:endParaRPr b="1"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 </a:t>
            </a:r>
            <a:r>
              <a:rPr b="1" lang="en-GB" sz="2200"/>
              <a:t>model</a:t>
            </a:r>
            <a:r>
              <a:rPr lang="en-GB" sz="2200"/>
              <a:t> to embed 2 individual words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 </a:t>
            </a:r>
            <a:r>
              <a:rPr b="1" lang="en-GB" sz="2200"/>
              <a:t>loss function</a:t>
            </a:r>
            <a:r>
              <a:rPr lang="en-GB" sz="2200"/>
              <a:t> to optimize the model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We will use </a:t>
            </a: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BERT-base-uncased</a:t>
            </a:r>
            <a:r>
              <a:rPr lang="en-GB" sz="2200"/>
              <a:t>: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223" name="Google Shape;22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750" y="2622225"/>
            <a:ext cx="714375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Train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29" name="Google Shape;229;p42"/>
          <p:cNvSpPr txBox="1"/>
          <p:nvPr>
            <p:ph idx="1" type="body"/>
          </p:nvPr>
        </p:nvSpPr>
        <p:spPr>
          <a:xfrm>
            <a:off x="41400" y="514500"/>
            <a:ext cx="9061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For the </a:t>
            </a:r>
            <a:r>
              <a:rPr b="1" lang="en-GB" sz="2200"/>
              <a:t>loss function</a:t>
            </a:r>
            <a:r>
              <a:rPr lang="en-GB" sz="2200"/>
              <a:t>, We will use </a:t>
            </a:r>
            <a:r>
              <a:rPr b="1" lang="en-GB" sz="2200"/>
              <a:t>softmax</a:t>
            </a:r>
            <a:r>
              <a:rPr lang="en-GB" sz="2200"/>
              <a:t> loss of </a:t>
            </a: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sentence-transformers</a:t>
            </a:r>
            <a:r>
              <a:rPr lang="en-GB" sz="2200"/>
              <a:t>: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230" name="Google Shape;23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475" y="1401350"/>
            <a:ext cx="8147050" cy="258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3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Train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36" name="Google Shape;236;p43"/>
          <p:cNvSpPr txBox="1"/>
          <p:nvPr>
            <p:ph idx="1" type="body"/>
          </p:nvPr>
        </p:nvSpPr>
        <p:spPr>
          <a:xfrm>
            <a:off x="41400" y="514500"/>
            <a:ext cx="9061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We also need to define an evaluator to evaluate the model's performance during training.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This evaluation can be performed using the </a:t>
            </a:r>
            <a:r>
              <a:rPr b="1" lang="en-GB" sz="2200"/>
              <a:t>Semantic Textual Similarity Benchmark (STSB)</a:t>
            </a:r>
            <a:r>
              <a:rPr lang="en-GB" sz="2200"/>
              <a:t> - a collection of human-labeled sentence pairs, with similarity scores between 1 and 5.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instead of having a score between 1 and 5, we get it between 0 and 1: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237" name="Google Shape;23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525" y="2963875"/>
            <a:ext cx="6646874" cy="211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4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Train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43" name="Google Shape;243;p44"/>
          <p:cNvSpPr txBox="1"/>
          <p:nvPr>
            <p:ph idx="1" type="body"/>
          </p:nvPr>
        </p:nvSpPr>
        <p:spPr>
          <a:xfrm>
            <a:off x="41400" y="514500"/>
            <a:ext cx="9061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Then we create, </a:t>
            </a: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SentenceTransformerTrainingArguments</a:t>
            </a:r>
            <a:r>
              <a:rPr lang="en-GB" sz="2200"/>
              <a:t> , similar to training with Hugging Face Transformers: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244" name="Google Shape;24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125" y="1436450"/>
            <a:ext cx="7296150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5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Train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50" name="Google Shape;250;p45"/>
          <p:cNvSpPr txBox="1"/>
          <p:nvPr>
            <p:ph idx="1" type="body"/>
          </p:nvPr>
        </p:nvSpPr>
        <p:spPr>
          <a:xfrm>
            <a:off x="41400" y="514500"/>
            <a:ext cx="9061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3686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sz="2200"/>
              <a:t>See the following arguments:</a:t>
            </a:r>
            <a:endParaRPr sz="2200"/>
          </a:p>
          <a:p>
            <a:pPr indent="-33686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-GB" sz="2200"/>
              <a:t>num_train_epochs:</a:t>
            </a:r>
            <a:r>
              <a:rPr b="1" lang="en-GB" sz="2200"/>
              <a:t> </a:t>
            </a:r>
            <a:r>
              <a:rPr lang="en-GB" sz="2200"/>
              <a:t>the number of training rounds. Higher values mean better model performance.</a:t>
            </a:r>
            <a:endParaRPr sz="2200"/>
          </a:p>
          <a:p>
            <a:pPr indent="-33686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-GB" sz="2200"/>
              <a:t>per_device_train_batch_size:</a:t>
            </a:r>
            <a:r>
              <a:rPr b="1" lang="en-GB" sz="2200"/>
              <a:t> </a:t>
            </a:r>
            <a:r>
              <a:rPr lang="en-GB" sz="2200"/>
              <a:t>the number of samples to process simultaneously on each device (e.g., GPU or CPU) during evaluation. Higher values generally means faster training.</a:t>
            </a:r>
            <a:endParaRPr sz="2200"/>
          </a:p>
          <a:p>
            <a:pPr indent="-33686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-GB" sz="2200"/>
              <a:t>per_device_eval_batch_size: </a:t>
            </a:r>
            <a:r>
              <a:rPr lang="en-GB" sz="2200"/>
              <a:t>the number of samples to process simultaneously on each device (e.g., GPU or CPU) during evaluation. Higher values generally mean faster evaluation.</a:t>
            </a:r>
            <a:endParaRPr sz="2200"/>
          </a:p>
          <a:p>
            <a:pPr indent="-33686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-GB" sz="2200"/>
              <a:t>warmup_steps:</a:t>
            </a:r>
            <a:r>
              <a:rPr b="1" lang="en-GB" sz="2200"/>
              <a:t> </a:t>
            </a:r>
            <a:r>
              <a:rPr lang="en-GB" sz="2200"/>
              <a:t>the number of steps during which the learning rate will be linearly increased from zero to the initial learning rate defined for the training process. </a:t>
            </a:r>
            <a:endParaRPr sz="2200"/>
          </a:p>
          <a:p>
            <a:pPr indent="-33686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-GB" sz="2200"/>
              <a:t>fp16:</a:t>
            </a:r>
            <a:r>
              <a:rPr b="1" lang="en-GB" sz="2200"/>
              <a:t> </a:t>
            </a:r>
            <a:r>
              <a:rPr lang="en-GB" sz="2200"/>
              <a:t>by enabling this, we allow for mixed precision training, where computations are performed using 16-bit floating-point numbers (fp16)</a:t>
            </a:r>
            <a:r>
              <a:rPr lang="en-GB" sz="2200"/>
              <a:t> instead of the default 32-bit (fp32)</a:t>
            </a:r>
            <a:r>
              <a:rPr lang="en-GB" sz="2200"/>
              <a:t>, reducing memory usage and potentially increases the training speed</a:t>
            </a:r>
            <a:endParaRPr sz="2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6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Train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56" name="Google Shape;256;p46"/>
          <p:cNvSpPr txBox="1"/>
          <p:nvPr>
            <p:ph idx="1" type="body"/>
          </p:nvPr>
        </p:nvSpPr>
        <p:spPr>
          <a:xfrm>
            <a:off x="41400" y="514500"/>
            <a:ext cx="9061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Now that we have the model (</a:t>
            </a:r>
            <a:r>
              <a:rPr b="1" lang="en-GB" sz="2200"/>
              <a:t>BERT base model (uncased)</a:t>
            </a:r>
            <a:r>
              <a:rPr lang="en-GB" sz="2200"/>
              <a:t>), loss (</a:t>
            </a:r>
            <a:r>
              <a:rPr b="1" lang="en-GB" sz="2200"/>
              <a:t>softmax</a:t>
            </a:r>
            <a:r>
              <a:rPr lang="en-GB" sz="2200"/>
              <a:t>), and evaluator (</a:t>
            </a:r>
            <a:r>
              <a:rPr b="1" lang="en-GB" sz="2200"/>
              <a:t>SBST</a:t>
            </a:r>
            <a:r>
              <a:rPr lang="en-GB" sz="2200"/>
              <a:t>), we can start with the training:</a:t>
            </a:r>
            <a:endParaRPr sz="2200"/>
          </a:p>
        </p:txBody>
      </p:sp>
      <p:pic>
        <p:nvPicPr>
          <p:cNvPr id="257" name="Google Shape;25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975" y="1462875"/>
            <a:ext cx="8099000" cy="33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7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Train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63" name="Google Shape;263;p47"/>
          <p:cNvSpPr txBox="1"/>
          <p:nvPr>
            <p:ph idx="1" type="body"/>
          </p:nvPr>
        </p:nvSpPr>
        <p:spPr>
          <a:xfrm>
            <a:off x="41400" y="514500"/>
            <a:ext cx="90612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After training the model, we can use the evaluator to get the performance on this single task:</a:t>
            </a:r>
            <a:endParaRPr sz="2200"/>
          </a:p>
        </p:txBody>
      </p:sp>
      <p:pic>
        <p:nvPicPr>
          <p:cNvPr id="264" name="Google Shape;26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025" y="1362075"/>
            <a:ext cx="734377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488" y="3781425"/>
            <a:ext cx="734377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8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Train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71" name="Google Shape;271;p48"/>
          <p:cNvSpPr txBox="1"/>
          <p:nvPr>
            <p:ph idx="1" type="body"/>
          </p:nvPr>
        </p:nvSpPr>
        <p:spPr>
          <a:xfrm>
            <a:off x="41400" y="469500"/>
            <a:ext cx="9061200" cy="42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In-Depth Evaluation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Massive Text Embedding Benchmark (MTEB) </a:t>
            </a:r>
            <a:r>
              <a:rPr lang="en-GB" sz="2200"/>
              <a:t>unifies the many benchmarks including </a:t>
            </a:r>
            <a:r>
              <a:rPr b="1" lang="en-GB" sz="2200"/>
              <a:t>GLUE. </a:t>
            </a:r>
            <a:r>
              <a:rPr lang="en-GB" sz="2200"/>
              <a:t> It covers 8 embedding tasks, 58 datasets, and 112 evaluations.</a:t>
            </a:r>
            <a:endParaRPr sz="2200"/>
          </a:p>
        </p:txBody>
      </p:sp>
      <p:pic>
        <p:nvPicPr>
          <p:cNvPr id="272" name="Google Shape;27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7050" y="2294425"/>
            <a:ext cx="4829901" cy="28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9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Loss Functions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78" name="Google Shape;278;p49"/>
          <p:cNvSpPr txBox="1"/>
          <p:nvPr>
            <p:ph idx="1" type="body"/>
          </p:nvPr>
        </p:nvSpPr>
        <p:spPr>
          <a:xfrm>
            <a:off x="41400" y="469500"/>
            <a:ext cx="9061200" cy="42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We trained our model using </a:t>
            </a:r>
            <a:r>
              <a:rPr b="1" lang="en-GB" sz="2200"/>
              <a:t>softmax</a:t>
            </a:r>
            <a:r>
              <a:rPr lang="en-GB" sz="2200"/>
              <a:t> loss to illustrate how one of the first </a:t>
            </a: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sentence-transformers</a:t>
            </a:r>
            <a:r>
              <a:rPr lang="en-GB" sz="2200"/>
              <a:t> models was trained. But </a:t>
            </a:r>
            <a:r>
              <a:rPr b="1" lang="en-GB" sz="2200"/>
              <a:t>softmax</a:t>
            </a:r>
            <a:r>
              <a:rPr lang="en-GB" sz="2200"/>
              <a:t> is generally not advised, as there are better loss functions.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Two loss functions perform well generally:</a:t>
            </a:r>
            <a:endParaRPr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AutoNum type="arabicPeriod"/>
            </a:pPr>
            <a:r>
              <a:rPr b="1" lang="en-GB" sz="2200"/>
              <a:t>Cosine Similarity</a:t>
            </a:r>
            <a:endParaRPr b="1"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-GB" sz="2200"/>
              <a:t>Multiple Negatives Ranking (MNR) Loss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0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Loss Functions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84" name="Google Shape;284;p50"/>
          <p:cNvSpPr txBox="1"/>
          <p:nvPr>
            <p:ph idx="1" type="body"/>
          </p:nvPr>
        </p:nvSpPr>
        <p:spPr>
          <a:xfrm>
            <a:off x="41400" y="469500"/>
            <a:ext cx="4132500" cy="42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Cosine Similarity</a:t>
            </a:r>
            <a:endParaRPr b="1"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Typically used in semantic textual similarity tasks, where a similarity score is assigned for a pair of texts to optimize the model.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Quantifies the degree to which 2 texts are similar or not (not classification)</a:t>
            </a:r>
            <a:endParaRPr sz="2200"/>
          </a:p>
        </p:txBody>
      </p:sp>
      <p:pic>
        <p:nvPicPr>
          <p:cNvPr id="285" name="Google Shape;28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9975" y="470100"/>
            <a:ext cx="4306615" cy="420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1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Loss Functions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91" name="Google Shape;291;p51"/>
          <p:cNvSpPr txBox="1"/>
          <p:nvPr>
            <p:ph idx="1" type="body"/>
          </p:nvPr>
        </p:nvSpPr>
        <p:spPr>
          <a:xfrm>
            <a:off x="41400" y="469500"/>
            <a:ext cx="9055500" cy="42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Cosine similarity is usually a value between </a:t>
            </a:r>
            <a:r>
              <a:rPr b="1" lang="en-GB" sz="2200"/>
              <a:t>0 and 1</a:t>
            </a:r>
            <a:r>
              <a:rPr lang="en-GB" sz="2200"/>
              <a:t>. To use the loss with the NLI, we need to convert the values entailment (0),neutral (1), and contradiction (2) to values between 0 and 1.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292" name="Google Shape;29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348" y="1658425"/>
            <a:ext cx="6375849" cy="338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Creating an Embedding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298" name="Google Shape;298;p52"/>
          <p:cNvSpPr txBox="1"/>
          <p:nvPr>
            <p:ph idx="1" type="body"/>
          </p:nvPr>
        </p:nvSpPr>
        <p:spPr>
          <a:xfrm>
            <a:off x="41400" y="469500"/>
            <a:ext cx="9055500" cy="42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Let's create our evaluator: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299" name="Google Shape;29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063" y="1306176"/>
            <a:ext cx="7961875" cy="266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Creating an Embedding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05" name="Google Shape;305;p53"/>
          <p:cNvSpPr txBox="1"/>
          <p:nvPr>
            <p:ph idx="1" type="body"/>
          </p:nvPr>
        </p:nvSpPr>
        <p:spPr>
          <a:xfrm>
            <a:off x="0" y="469500"/>
            <a:ext cx="3371100" cy="42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Then, we follow the same steps as before to train the model but select a different loss (cosine similarity loss) instead: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306" name="Google Shape;30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6890" y="560500"/>
            <a:ext cx="5429685" cy="440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4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Creating an Embedding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12" name="Google Shape;312;p54"/>
          <p:cNvSpPr txBox="1"/>
          <p:nvPr>
            <p:ph idx="1" type="body"/>
          </p:nvPr>
        </p:nvSpPr>
        <p:spPr>
          <a:xfrm>
            <a:off x="0" y="469500"/>
            <a:ext cx="8829300" cy="42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After the training, we can evaluate the performance of the model: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313" name="Google Shape;31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975" y="909738"/>
            <a:ext cx="7381875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54"/>
          <p:cNvSpPr txBox="1"/>
          <p:nvPr>
            <p:ph idx="1" type="body"/>
          </p:nvPr>
        </p:nvSpPr>
        <p:spPr>
          <a:xfrm>
            <a:off x="53525" y="4116775"/>
            <a:ext cx="88293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highlight>
                  <a:schemeClr val="lt1"/>
                </a:highlight>
              </a:rPr>
              <a:t>Remember that the pearson cosine was 0.59. This increase to 0.72 shows the importance and impact of loss function on performance.</a:t>
            </a:r>
            <a:endParaRPr sz="22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5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Creating an Embedding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20" name="Google Shape;320;p55"/>
          <p:cNvSpPr txBox="1"/>
          <p:nvPr>
            <p:ph idx="1" type="body"/>
          </p:nvPr>
        </p:nvSpPr>
        <p:spPr>
          <a:xfrm>
            <a:off x="0" y="469500"/>
            <a:ext cx="4826700" cy="46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Multiple Negatives Ranking (MNR) Loss</a:t>
            </a:r>
            <a:endParaRPr b="1"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also referred to as </a:t>
            </a:r>
            <a:r>
              <a:rPr b="1" lang="en-GB" sz="2200"/>
              <a:t>InfoNCE</a:t>
            </a:r>
            <a:r>
              <a:rPr lang="en-GB" sz="2200"/>
              <a:t> or </a:t>
            </a:r>
            <a:r>
              <a:rPr b="1" lang="en-GB" sz="2200"/>
              <a:t>NTXentLoss</a:t>
            </a:r>
            <a:r>
              <a:rPr lang="en-GB" sz="2200"/>
              <a:t>, uses either positive pairs of sentences or triplets that contain a pair of positive sentences and an additional unrelated sentence (called a </a:t>
            </a:r>
            <a:r>
              <a:rPr b="1" lang="en-GB" sz="2200"/>
              <a:t>negative</a:t>
            </a:r>
            <a:r>
              <a:rPr lang="en-GB" sz="2200"/>
              <a:t>).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This </a:t>
            </a:r>
            <a:r>
              <a:rPr b="1" lang="en-GB" sz="2200"/>
              <a:t>negative</a:t>
            </a:r>
            <a:r>
              <a:rPr lang="en-GB" sz="2200"/>
              <a:t> sentence represents the </a:t>
            </a:r>
            <a:r>
              <a:rPr b="1" lang="en-GB" sz="2200"/>
              <a:t>dissimilarity</a:t>
            </a:r>
            <a:r>
              <a:rPr lang="en-GB" sz="2200"/>
              <a:t> between the </a:t>
            </a:r>
            <a:r>
              <a:rPr b="1" lang="en-GB" sz="2200"/>
              <a:t>positive</a:t>
            </a:r>
            <a:r>
              <a:rPr lang="en-GB" sz="2200"/>
              <a:t> sentences.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321" name="Google Shape;32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1625" y="787800"/>
            <a:ext cx="4089976" cy="37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6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Creating an Embedding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27" name="Google Shape;327;p56"/>
          <p:cNvSpPr txBox="1"/>
          <p:nvPr>
            <p:ph idx="1" type="body"/>
          </p:nvPr>
        </p:nvSpPr>
        <p:spPr>
          <a:xfrm>
            <a:off x="0" y="469500"/>
            <a:ext cx="9043500" cy="46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Multiple Negatives Ranking (MNR) Loss </a:t>
            </a:r>
            <a:r>
              <a:rPr b="1" lang="en-GB" sz="2200"/>
              <a:t>Examples:</a:t>
            </a:r>
            <a:endParaRPr b="1"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Pairs: </a:t>
            </a:r>
            <a:r>
              <a:rPr b="1" lang="en-GB" sz="2200"/>
              <a:t>Apple</a:t>
            </a:r>
            <a:r>
              <a:rPr lang="en-GB" sz="2200"/>
              <a:t> - </a:t>
            </a:r>
            <a:r>
              <a:rPr b="1" lang="en-GB" sz="2200"/>
              <a:t>Banana</a:t>
            </a:r>
            <a:r>
              <a:rPr lang="en-GB" sz="2200"/>
              <a:t> (fruit - fruit)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 sz="2200"/>
              <a:t>Tiger</a:t>
            </a:r>
            <a:r>
              <a:rPr lang="en-GB" sz="2200"/>
              <a:t> - </a:t>
            </a:r>
            <a:r>
              <a:rPr b="1" lang="en-GB" sz="2200"/>
              <a:t>Cat</a:t>
            </a:r>
            <a:r>
              <a:rPr lang="en-GB" sz="2200"/>
              <a:t> (animal - animal)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b="1" lang="en-GB" sz="2200"/>
              <a:t>Chopper</a:t>
            </a:r>
            <a:r>
              <a:rPr lang="en-GB" sz="2200"/>
              <a:t> - </a:t>
            </a:r>
            <a:r>
              <a:rPr b="1" lang="en-GB" sz="2200"/>
              <a:t>Airplane</a:t>
            </a:r>
            <a:r>
              <a:rPr lang="en-GB" sz="2200"/>
              <a:t> (Flying vehicles)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/>
              <a:t>Positive pair:</a:t>
            </a:r>
            <a:endParaRPr b="1"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Apple (anchor sentence) - Banana (positive)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GB" sz="2200"/>
              <a:t>Negative pair:</a:t>
            </a:r>
            <a:endParaRPr b="1"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Apple - Airplane (negative)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 sz="2200"/>
              <a:t>Apple - Cat (negative)</a:t>
            </a:r>
            <a:endParaRPr sz="2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7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Creating an Embedding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33" name="Google Shape;333;p57"/>
          <p:cNvSpPr txBox="1"/>
          <p:nvPr>
            <p:ph idx="1" type="body"/>
          </p:nvPr>
        </p:nvSpPr>
        <p:spPr>
          <a:xfrm>
            <a:off x="0" y="469500"/>
            <a:ext cx="3992100" cy="46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Multiple Negatives Ranking (MNR) Loss 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To make these pairs from the MNLI dataset that we have, we start with anchor sentence (i.e., labeled as 'premise'). To add negative sentences, we randomly sample sentences as the 'hypothesis.'</a:t>
            </a:r>
            <a:endParaRPr sz="2200"/>
          </a:p>
        </p:txBody>
      </p:sp>
      <p:pic>
        <p:nvPicPr>
          <p:cNvPr id="334" name="Google Shape;33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4500" y="787800"/>
            <a:ext cx="4847100" cy="2671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4501" y="3459686"/>
            <a:ext cx="4847100" cy="308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8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Creating an Embedding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41" name="Google Shape;341;p58"/>
          <p:cNvSpPr txBox="1"/>
          <p:nvPr>
            <p:ph idx="1" type="body"/>
          </p:nvPr>
        </p:nvSpPr>
        <p:spPr>
          <a:xfrm>
            <a:off x="0" y="469500"/>
            <a:ext cx="8797200" cy="46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Multiple Negatives Ranking (MNR) Loss 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Let's define the evaluator: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342" name="Google Shape;34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624" y="1586986"/>
            <a:ext cx="6692076" cy="243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9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Creating an Embedding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48" name="Google Shape;348;p59"/>
          <p:cNvSpPr txBox="1"/>
          <p:nvPr>
            <p:ph idx="1" type="body"/>
          </p:nvPr>
        </p:nvSpPr>
        <p:spPr>
          <a:xfrm>
            <a:off x="0" y="469500"/>
            <a:ext cx="8797200" cy="46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Multiple Negatives Ranking (MNR) Loss 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We use the same code as before but we use MNR loss instead of cosine similarity loss: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349" name="Google Shape;34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377" y="2081475"/>
            <a:ext cx="8446438" cy="63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0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Creating an Embedding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55" name="Google Shape;355;p60"/>
          <p:cNvSpPr txBox="1"/>
          <p:nvPr>
            <p:ph idx="1" type="body"/>
          </p:nvPr>
        </p:nvSpPr>
        <p:spPr>
          <a:xfrm>
            <a:off x="0" y="469500"/>
            <a:ext cx="8797200" cy="7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Let's see how MNR loss compares to previous loss functi</a:t>
            </a:r>
            <a:r>
              <a:rPr lang="en-GB" sz="2200"/>
              <a:t>ons:</a:t>
            </a:r>
            <a:endParaRPr sz="2200"/>
          </a:p>
        </p:txBody>
      </p:sp>
      <p:pic>
        <p:nvPicPr>
          <p:cNvPr id="356" name="Google Shape;35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500" y="895350"/>
            <a:ext cx="7343775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60"/>
          <p:cNvSpPr txBox="1"/>
          <p:nvPr>
            <p:ph idx="1" type="body"/>
          </p:nvPr>
        </p:nvSpPr>
        <p:spPr>
          <a:xfrm>
            <a:off x="0" y="4248150"/>
            <a:ext cx="87972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highlight>
                  <a:schemeClr val="lt1"/>
                </a:highlight>
              </a:rPr>
              <a:t>Recall that the pearson cosine from when we used softmax was 0.59, with cosine 0.72, and now we have 0.80.</a:t>
            </a:r>
            <a:endParaRPr sz="22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1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Creating an Embedding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63" name="Google Shape;363;p61"/>
          <p:cNvSpPr txBox="1"/>
          <p:nvPr>
            <p:ph idx="1" type="body"/>
          </p:nvPr>
        </p:nvSpPr>
        <p:spPr>
          <a:xfrm>
            <a:off x="0" y="469500"/>
            <a:ext cx="9043500" cy="4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Because we randomly sampled our negatives, the negatives that we used are potentially </a:t>
            </a:r>
            <a:r>
              <a:rPr b="1" lang="en-GB" sz="2200"/>
              <a:t>completely different and unrelated</a:t>
            </a:r>
            <a:r>
              <a:rPr lang="en-GB" sz="2200"/>
              <a:t> to the question (</a:t>
            </a:r>
            <a:r>
              <a:rPr b="1" lang="en-GB" sz="2200"/>
              <a:t>anchor</a:t>
            </a:r>
            <a:r>
              <a:rPr lang="en-GB" sz="2200"/>
              <a:t>).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This makes it really </a:t>
            </a:r>
            <a:r>
              <a:rPr b="1" lang="en-GB" sz="2200"/>
              <a:t>easy for the model to differentiate</a:t>
            </a:r>
            <a:r>
              <a:rPr lang="en-GB" sz="2200"/>
              <a:t> them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In real life, this would mean that the model would struggle to differentiate between sentences like: </a:t>
            </a:r>
            <a:endParaRPr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i="1" lang="en-GB" sz="2200"/>
              <a:t>'How many people live in Amsterdam?' </a:t>
            </a:r>
            <a:endParaRPr i="1"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i="1" lang="en-GB" sz="2200"/>
              <a:t>‘More than a million people live in Utrecht, which is more than Amsterdam'</a:t>
            </a:r>
            <a:endParaRPr i="1" sz="2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2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Creating an Embedding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69" name="Google Shape;369;p62"/>
          <p:cNvSpPr txBox="1"/>
          <p:nvPr>
            <p:ph idx="1" type="body"/>
          </p:nvPr>
        </p:nvSpPr>
        <p:spPr>
          <a:xfrm>
            <a:off x="107025" y="635400"/>
            <a:ext cx="4216800" cy="4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To address this, we would need to have negatives that are </a:t>
            </a:r>
            <a:r>
              <a:rPr b="1" lang="en-GB" sz="2200"/>
              <a:t>very related</a:t>
            </a:r>
            <a:r>
              <a:rPr lang="en-GB" sz="2200"/>
              <a:t> to the answer </a:t>
            </a:r>
            <a:r>
              <a:rPr b="1" lang="en-GB" sz="2200"/>
              <a:t>but is not the right answer</a:t>
            </a:r>
            <a:endParaRPr b="1"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GB" sz="2200"/>
              <a:t>These negatives are called </a:t>
            </a:r>
            <a:r>
              <a:rPr b="1" lang="en-GB" sz="2200"/>
              <a:t>hard negatives</a:t>
            </a:r>
            <a:endParaRPr b="1" sz="2200"/>
          </a:p>
        </p:txBody>
      </p:sp>
      <p:pic>
        <p:nvPicPr>
          <p:cNvPr id="370" name="Google Shape;37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6800" y="1256150"/>
            <a:ext cx="4783800" cy="289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3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Creating an Embedding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76" name="Google Shape;376;p63"/>
          <p:cNvSpPr txBox="1"/>
          <p:nvPr>
            <p:ph idx="1" type="body"/>
          </p:nvPr>
        </p:nvSpPr>
        <p:spPr>
          <a:xfrm>
            <a:off x="77100" y="453475"/>
            <a:ext cx="8989800" cy="44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Gathering negatives can be divided into three processes:</a:t>
            </a:r>
            <a:endParaRPr b="1"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AutoNum type="arabicPeriod"/>
            </a:pPr>
            <a:r>
              <a:rPr b="1" lang="en-GB" sz="2200"/>
              <a:t>Easy Negatives</a:t>
            </a:r>
            <a:endParaRPr b="1"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en-GB" sz="2200"/>
              <a:t>Through random sampling documents (what was done in the example).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-GB" sz="2200"/>
              <a:t>Semi-hard Negatives</a:t>
            </a:r>
            <a:endParaRPr b="1"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en-GB" sz="2200"/>
              <a:t>Using an embedding model to generate embeddings for sentences and using cosine similarity to find those that are highly related. 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b="1" lang="en-GB" sz="2200"/>
              <a:t>Hard Negatives</a:t>
            </a:r>
            <a:endParaRPr b="1"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en-GB" sz="2200">
                <a:highlight>
                  <a:schemeClr val="lt1"/>
                </a:highlight>
              </a:rPr>
              <a:t>These are manually labeled or a generative model is used to either label or generate sentence pairs.</a:t>
            </a:r>
            <a:endParaRPr sz="22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4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Fine-Tuning an Embedding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82" name="Google Shape;382;p64"/>
          <p:cNvSpPr txBox="1"/>
          <p:nvPr>
            <p:ph idx="1" type="body"/>
          </p:nvPr>
        </p:nvSpPr>
        <p:spPr>
          <a:xfrm>
            <a:off x="77100" y="453475"/>
            <a:ext cx="3720600" cy="44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Supervised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Recall that supervised just means we show the model labels to data points.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We use </a:t>
            </a: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all-MiniLM-L6-v2</a:t>
            </a:r>
            <a:r>
              <a:rPr lang="en-GB" sz="2200"/>
              <a:t> from </a:t>
            </a: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sentence-transformers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383" name="Google Shape;38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900" y="1020375"/>
            <a:ext cx="5127750" cy="310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5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Fine-Tuning an Embedding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89" name="Google Shape;389;p65"/>
          <p:cNvSpPr txBox="1"/>
          <p:nvPr>
            <p:ph idx="1" type="body"/>
          </p:nvPr>
        </p:nvSpPr>
        <p:spPr>
          <a:xfrm>
            <a:off x="77100" y="453475"/>
            <a:ext cx="9017400" cy="44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/>
              <a:t>Supervised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Then we replace </a:t>
            </a: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bert-base-uncased</a:t>
            </a:r>
            <a:r>
              <a:rPr lang="en-GB" sz="2200"/>
              <a:t> with the pretrained model: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390" name="Google Shape;39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2600" y="1436875"/>
            <a:ext cx="5128024" cy="364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6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Fine-Tuning an Embedding Model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396" name="Google Shape;396;p66"/>
          <p:cNvSpPr txBox="1"/>
          <p:nvPr>
            <p:ph idx="1" type="body"/>
          </p:nvPr>
        </p:nvSpPr>
        <p:spPr>
          <a:xfrm>
            <a:off x="77100" y="453475"/>
            <a:ext cx="90174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We follow the same steps as before (trainer function, not shown for brevity):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397" name="Google Shape;39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125" y="901824"/>
            <a:ext cx="6944500" cy="3218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66"/>
          <p:cNvSpPr txBox="1"/>
          <p:nvPr>
            <p:ph idx="1" type="body"/>
          </p:nvPr>
        </p:nvSpPr>
        <p:spPr>
          <a:xfrm>
            <a:off x="63300" y="3935750"/>
            <a:ext cx="9017400" cy="11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highlight>
                  <a:schemeClr val="lt1"/>
                </a:highlight>
              </a:rPr>
              <a:t>Score of 0.85 is the highest we have seen thus far. the pretrained model that we used for fine-tuning was already trained on the full MNLI dataset, whereas we only used 50,000 examples.</a:t>
            </a:r>
            <a:endParaRPr sz="22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7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Augmented SBERT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04" name="Google Shape;404;p67"/>
          <p:cNvSpPr txBox="1"/>
          <p:nvPr>
            <p:ph idx="1" type="body"/>
          </p:nvPr>
        </p:nvSpPr>
        <p:spPr>
          <a:xfrm>
            <a:off x="77100" y="453475"/>
            <a:ext cx="9017400" cy="44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Large amounts of labeled data is not always available. One way to augment data such that an embedding model can be fine-tuned is called </a:t>
            </a:r>
            <a:r>
              <a:rPr b="1" lang="en-GB" sz="2200"/>
              <a:t>Augmented SBERT</a:t>
            </a:r>
            <a:r>
              <a:rPr lang="en-GB" sz="2200"/>
              <a:t>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Augmented SBERT involves the following steps:</a:t>
            </a:r>
            <a:endParaRPr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/>
              <a:t>Fine-tune a cross-encoder (BERT) using a small, annotated dataset (</a:t>
            </a:r>
            <a:r>
              <a:rPr b="1" lang="en-GB" sz="2200"/>
              <a:t>gold dataset</a:t>
            </a:r>
            <a:r>
              <a:rPr lang="en-GB" sz="2200"/>
              <a:t>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/>
              <a:t>Create new sentence pairs (or collect, unlabeled)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/>
              <a:t>Use the fine-tuned cross encoder to label the unlabeled sentence pairs (</a:t>
            </a:r>
            <a:r>
              <a:rPr b="1" lang="en-GB" sz="2200"/>
              <a:t>results to silver dataset</a:t>
            </a:r>
            <a:r>
              <a:rPr lang="en-GB" sz="2200"/>
              <a:t>)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-GB" sz="2200"/>
              <a:t>Train a bi-encoder (SBERT) on the extended dataset (</a:t>
            </a:r>
            <a:r>
              <a:rPr b="1" lang="en-GB" sz="2200"/>
              <a:t>gold + silver</a:t>
            </a:r>
            <a:r>
              <a:rPr lang="en-GB" sz="2200"/>
              <a:t>)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8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Augmented SBERT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10" name="Google Shape;410;p68"/>
          <p:cNvSpPr txBox="1"/>
          <p:nvPr>
            <p:ph idx="1" type="body"/>
          </p:nvPr>
        </p:nvSpPr>
        <p:spPr>
          <a:xfrm>
            <a:off x="77100" y="453475"/>
            <a:ext cx="9017400" cy="44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Large amounts of labeled data is not always available. One way to augment data such that an embedding model can be fine-tuned is called </a:t>
            </a:r>
            <a:r>
              <a:rPr b="1" lang="en-GB" sz="2200"/>
              <a:t>Augmented SBERT</a:t>
            </a:r>
            <a:r>
              <a:rPr lang="en-GB" sz="2200"/>
              <a:t>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411" name="Google Shape;41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775" y="1720888"/>
            <a:ext cx="7296150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9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Augmented SBERT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17" name="Google Shape;417;p69"/>
          <p:cNvSpPr txBox="1"/>
          <p:nvPr>
            <p:ph idx="1" type="body"/>
          </p:nvPr>
        </p:nvSpPr>
        <p:spPr>
          <a:xfrm>
            <a:off x="77100" y="453475"/>
            <a:ext cx="3023700" cy="44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To simulate a situation where there is little labeled data available, let's use 10,000 instead of 50,000.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The result is the </a:t>
            </a:r>
            <a:r>
              <a:rPr b="1" lang="en-GB" sz="2200"/>
              <a:t>gold dataset</a:t>
            </a:r>
            <a:r>
              <a:rPr lang="en-GB" sz="2200"/>
              <a:t> and it represents our </a:t>
            </a:r>
            <a:r>
              <a:rPr b="1" lang="en-GB" sz="2200"/>
              <a:t>ground truth.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418" name="Google Shape;41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7798" y="503648"/>
            <a:ext cx="5768726" cy="36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1502" y="4127675"/>
            <a:ext cx="5781310" cy="63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0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Augmented SBERT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25" name="Google Shape;425;p70"/>
          <p:cNvSpPr txBox="1"/>
          <p:nvPr>
            <p:ph idx="1" type="body"/>
          </p:nvPr>
        </p:nvSpPr>
        <p:spPr>
          <a:xfrm>
            <a:off x="77100" y="453475"/>
            <a:ext cx="89244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We train the cross-encoder with this gold dataset (Step 1):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426" name="Google Shape;42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862" y="938025"/>
            <a:ext cx="6506875" cy="240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1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Augmented SBERT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32" name="Google Shape;432;p71"/>
          <p:cNvSpPr txBox="1"/>
          <p:nvPr>
            <p:ph idx="1" type="body"/>
          </p:nvPr>
        </p:nvSpPr>
        <p:spPr>
          <a:xfrm>
            <a:off x="77100" y="453475"/>
            <a:ext cx="8924400" cy="44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Then we use the remaining 40,000 (from the 50,000) sentence pairs (silver dataset) as our silver dataset (Step 2):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433" name="Google Shape;43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338" y="1442525"/>
            <a:ext cx="7019925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2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Augmented SBERT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39" name="Google Shape;439;p72"/>
          <p:cNvSpPr txBox="1"/>
          <p:nvPr>
            <p:ph idx="1" type="body"/>
          </p:nvPr>
        </p:nvSpPr>
        <p:spPr>
          <a:xfrm>
            <a:off x="77100" y="453475"/>
            <a:ext cx="89244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Then, we label these 40,000 unlabeled sentence pairs using the fine-tuned cross-encoder (Step 3):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440" name="Google Shape;44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150" y="1228525"/>
            <a:ext cx="6204875" cy="2458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6150" y="3686905"/>
            <a:ext cx="6204875" cy="757719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72"/>
          <p:cNvSpPr txBox="1"/>
          <p:nvPr>
            <p:ph idx="1" type="body"/>
          </p:nvPr>
        </p:nvSpPr>
        <p:spPr>
          <a:xfrm>
            <a:off x="-49275" y="4315200"/>
            <a:ext cx="8924400" cy="7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This output of this is the silver dataset which we combine with the gold dataset.</a:t>
            </a:r>
            <a:endParaRPr sz="220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3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Augmented SBERT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48" name="Google Shape;448;p73"/>
          <p:cNvSpPr txBox="1"/>
          <p:nvPr>
            <p:ph idx="1" type="body"/>
          </p:nvPr>
        </p:nvSpPr>
        <p:spPr>
          <a:xfrm>
            <a:off x="77100" y="453475"/>
            <a:ext cx="89244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then use this extended dataset (gold + silver) to train bert-base-uncased as bi-encoder (Step 4):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449" name="Google Shape;44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00" y="1272175"/>
            <a:ext cx="8523501" cy="120277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73"/>
          <p:cNvSpPr txBox="1"/>
          <p:nvPr>
            <p:ph idx="1" type="body"/>
          </p:nvPr>
        </p:nvSpPr>
        <p:spPr>
          <a:xfrm>
            <a:off x="167550" y="2571750"/>
            <a:ext cx="8924400" cy="22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Following</a:t>
            </a: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same steps as before (all in the book), we evaluate the model.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original cosine similarity loss example had a score of 0.72 with the full dataset. Using only 20% of that data, we managed to get a score of 0.71. This shows the importance of Augmented SBERT when limited labeled data.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4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Unsupervised Learning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56" name="Google Shape;456;p74"/>
          <p:cNvSpPr txBox="1"/>
          <p:nvPr>
            <p:ph idx="1" type="body"/>
          </p:nvPr>
        </p:nvSpPr>
        <p:spPr>
          <a:xfrm>
            <a:off x="77100" y="453475"/>
            <a:ext cx="89244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Unsupervised learning is a technique to train models when predetermined labels are not available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457" name="Google Shape;457;p74"/>
          <p:cNvSpPr txBox="1"/>
          <p:nvPr>
            <p:ph idx="1" type="body"/>
          </p:nvPr>
        </p:nvSpPr>
        <p:spPr>
          <a:xfrm>
            <a:off x="167550" y="1367575"/>
            <a:ext cx="8924400" cy="3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idea of TSDAE (Transformer-Based Sequential Denoising Auto-Encoder) is that we add noise to the input sentence by removing a certain percentage of words from it. 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sentence embedding is then generated from this 'damaged' sentence.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decoder then tries to reconstruct this sentence but without the artificial noise. The performance of the embedding model (encoder) is calculated based on how well the decoder reconstructed the sentence.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5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TSDAE</a:t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463" name="Google Shape;46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3325" y="540000"/>
            <a:ext cx="3579649" cy="420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6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TSDAE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69" name="Google Shape;469;p76"/>
          <p:cNvSpPr txBox="1"/>
          <p:nvPr>
            <p:ph idx="1" type="body"/>
          </p:nvPr>
        </p:nvSpPr>
        <p:spPr>
          <a:xfrm>
            <a:off x="77100" y="453475"/>
            <a:ext cx="3395400" cy="3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start by downloading an external tokenizer, which is used for the denoising procedure: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creates a dataset of 50,000 sentences.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470" name="Google Shape;47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1675" y="635400"/>
            <a:ext cx="5317901" cy="723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1675" y="1229910"/>
            <a:ext cx="5317901" cy="3397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7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TSDAE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77" name="Google Shape;477;p77"/>
          <p:cNvSpPr txBox="1"/>
          <p:nvPr>
            <p:ph idx="1" type="body"/>
          </p:nvPr>
        </p:nvSpPr>
        <p:spPr>
          <a:xfrm>
            <a:off x="77100" y="453475"/>
            <a:ext cx="8893500" cy="3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run the training as before but with the [CLS] token as the pooling strategy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478" name="Google Shape;47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4588" y="1480513"/>
            <a:ext cx="7362825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8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TSDAE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84" name="Google Shape;484;p78"/>
          <p:cNvSpPr txBox="1"/>
          <p:nvPr>
            <p:ph idx="1" type="body"/>
          </p:nvPr>
        </p:nvSpPr>
        <p:spPr>
          <a:xfrm>
            <a:off x="77100" y="453475"/>
            <a:ext cx="8893500" cy="38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use the </a:t>
            </a:r>
            <a:r>
              <a:rPr lang="en-GB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DenoisingAutoEncoderLoss</a:t>
            </a: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loss function that attempts to reconstruct the original sentence using the noisy sentence.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485" name="Google Shape;48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588" y="1662113"/>
            <a:ext cx="7362825" cy="18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9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TSDAE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91" name="Google Shape;491;p79"/>
          <p:cNvSpPr txBox="1"/>
          <p:nvPr>
            <p:ph idx="1" type="body"/>
          </p:nvPr>
        </p:nvSpPr>
        <p:spPr>
          <a:xfrm>
            <a:off x="77100" y="453475"/>
            <a:ext cx="88935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training the model (same as previous times), we evaluate the model: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492" name="Google Shape;49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925" y="963288"/>
            <a:ext cx="7362825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79"/>
          <p:cNvSpPr txBox="1"/>
          <p:nvPr>
            <p:ph idx="1" type="body"/>
          </p:nvPr>
        </p:nvSpPr>
        <p:spPr>
          <a:xfrm>
            <a:off x="43650" y="4297500"/>
            <a:ext cx="88935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get a score of 0.70 using unlabeled data.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0"/>
          <p:cNvSpPr txBox="1"/>
          <p:nvPr>
            <p:ph type="title"/>
          </p:nvPr>
        </p:nvSpPr>
        <p:spPr>
          <a:xfrm>
            <a:off x="282575" y="0"/>
            <a:ext cx="76827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>
                <a:highlight>
                  <a:schemeClr val="lt1"/>
                </a:highlight>
              </a:rPr>
              <a:t>TSDAE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499" name="Google Shape;499;p80"/>
          <p:cNvSpPr txBox="1"/>
          <p:nvPr>
            <p:ph idx="1" type="body"/>
          </p:nvPr>
        </p:nvSpPr>
        <p:spPr>
          <a:xfrm>
            <a:off x="77100" y="453475"/>
            <a:ext cx="2980800" cy="43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TSDAE for Domain Adaptation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 Adaptation</a:t>
            </a:r>
            <a:r>
              <a:rPr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’s goal is to update existing embedding models to a specific textual domain that contains different subjects from the source domain.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</p:txBody>
      </p:sp>
      <p:pic>
        <p:nvPicPr>
          <p:cNvPr id="500" name="Google Shape;50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7798" y="751723"/>
            <a:ext cx="6005725" cy="364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1"/>
          <p:cNvSpPr txBox="1"/>
          <p:nvPr>
            <p:ph type="title"/>
          </p:nvPr>
        </p:nvSpPr>
        <p:spPr>
          <a:xfrm>
            <a:off x="3969300" y="2247000"/>
            <a:ext cx="1205400" cy="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SzPts val="1100"/>
              <a:buNone/>
            </a:pPr>
            <a:r>
              <a:rPr lang="en-GB">
                <a:highlight>
                  <a:schemeClr val="lt1"/>
                </a:highlight>
              </a:rPr>
              <a:t>END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